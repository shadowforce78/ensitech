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svg" ContentType="image/svg"/>
  <Override PartName="/ppt/media/image16.png" ContentType="image/png"/>
  <Override PartName="/ppt/media/image2.png" ContentType="image/png"/>
  <Override PartName="/ppt/media/image7.svg" ContentType="image/svg"/>
  <Override PartName="/ppt/media/image11.svg" ContentType="image/sv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move the slide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349638E-8407-4F5A-A89F-D62CBE17F84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28E2943-AD4E-4EE5-A2A5-536B5287AA5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6420190-F90F-4438-8C5A-38B1E3D186A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993D7E-055F-4E5B-BA2E-C8E3703C02D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8B02323-A165-4070-A958-F8D14F598B5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84BA8AB-6D2C-4C84-8B5D-F5CB71EED95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eee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aff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eee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aff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eee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aff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eee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aff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eee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aff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3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32" name="Text 0"/>
          <p:cNvSpPr/>
          <p:nvPr/>
        </p:nvSpPr>
        <p:spPr>
          <a:xfrm>
            <a:off x="6280200" y="1815120"/>
            <a:ext cx="7556040" cy="21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1" lang="en-US" sz="4450" spc="-1" strike="noStrike">
                <a:solidFill>
                  <a:srgbClr val="3b4540"/>
                </a:solidFill>
                <a:latin typeface="Fraunces Extra Bold"/>
                <a:ea typeface="Fraunces Extra Bold"/>
              </a:rPr>
              <a:t>OpenClaw: The Biggest Tech Phenomenon of 2026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6280200" y="4281480"/>
            <a:ext cx="755604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05449"/>
                </a:solidFill>
                <a:latin typeface="Nobile"/>
                <a:ea typeface="Nobile"/>
              </a:rPr>
              <a:t>Have you ever wished for a personal assistant who manages your emails, books your flights, and writes your code — </a:t>
            </a:r>
            <a:r>
              <a:rPr b="1" lang="en-US" sz="1750" spc="-1" strike="noStrike">
                <a:solidFill>
                  <a:srgbClr val="405449"/>
                </a:solidFill>
                <a:latin typeface="Nobile"/>
                <a:ea typeface="Nobile"/>
              </a:rPr>
              <a:t>while you sleep?</a:t>
            </a:r>
            <a:r>
              <a:rPr b="0" lang="en-US" sz="1750" spc="-1" strike="noStrike">
                <a:solidFill>
                  <a:srgbClr val="405449"/>
                </a:solidFill>
                <a:latin typeface="Nobile"/>
                <a:ea typeface="Nobile"/>
              </a:rPr>
              <a:t> Meet OpenClaw: the fastest-growing open-source project in history, bigger than React or Linux at their peak.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2"/>
          <a:stretch/>
        </p:blipFill>
        <p:spPr>
          <a:xfrm>
            <a:off x="12344400" y="7543800"/>
            <a:ext cx="2286000" cy="64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2691000" y="392040"/>
            <a:ext cx="704988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251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3b4540"/>
                </a:solidFill>
                <a:latin typeface="Fraunces Extra Bold"/>
                <a:ea typeface="Fraunces Extra Bold"/>
              </a:rPr>
              <a:t>Chatbot vs. Agent: What's the Difference?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" name="Image 0" descr="preencoded.png"/>
          <p:cNvPicPr/>
          <p:nvPr/>
        </p:nvPicPr>
        <p:blipFill>
          <a:blip r:embed="rId1"/>
          <a:stretch/>
        </p:blipFill>
        <p:spPr>
          <a:xfrm>
            <a:off x="2691000" y="1018800"/>
            <a:ext cx="5896440" cy="3307320"/>
          </a:xfrm>
          <a:prstGeom prst="rect">
            <a:avLst/>
          </a:prstGeom>
          <a:ln w="0">
            <a:noFill/>
          </a:ln>
        </p:spPr>
      </p:pic>
      <p:sp>
        <p:nvSpPr>
          <p:cNvPr id="37" name="Shape 1"/>
          <p:cNvSpPr/>
          <p:nvPr/>
        </p:nvSpPr>
        <p:spPr>
          <a:xfrm>
            <a:off x="8922600" y="3108960"/>
            <a:ext cx="3024000" cy="2136240"/>
          </a:xfrm>
          <a:prstGeom prst="roundRect">
            <a:avLst>
              <a:gd name="adj" fmla="val 5646"/>
            </a:avLst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2"/>
          <p:cNvSpPr/>
          <p:nvPr/>
        </p:nvSpPr>
        <p:spPr>
          <a:xfrm>
            <a:off x="8922600" y="3108960"/>
            <a:ext cx="3024000" cy="1067760"/>
          </a:xfrm>
          <a:prstGeom prst="roundRect">
            <a:avLst>
              <a:gd name="adj" fmla="val 11292"/>
            </a:avLst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3"/>
          <p:cNvSpPr/>
          <p:nvPr/>
        </p:nvSpPr>
        <p:spPr>
          <a:xfrm>
            <a:off x="9056520" y="3242880"/>
            <a:ext cx="22050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Fraunces Extra Bold"/>
                <a:ea typeface="Fraunces Extra Bold"/>
              </a:rPr>
              <a:t>💬</a:t>
            </a:r>
            <a:r>
              <a:rPr b="1" lang="en-US" sz="1300" spc="-1" strike="noStrike">
                <a:solidFill>
                  <a:srgbClr val="405449"/>
                </a:solidFill>
                <a:latin typeface="Fraunces Extra Bold"/>
                <a:ea typeface="Fraunces Extra Bold"/>
              </a:rPr>
              <a:t> </a:t>
            </a:r>
            <a:r>
              <a:rPr b="1" lang="en-US" sz="1300" spc="-1" strike="noStrike">
                <a:solidFill>
                  <a:srgbClr val="405449"/>
                </a:solidFill>
                <a:latin typeface="Fraunces Extra Bold"/>
                <a:ea typeface="Fraunces Extra Bold"/>
              </a:rPr>
              <a:t>Chatbot (e.g. ChatGPT)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9056520" y="3531600"/>
            <a:ext cx="2756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05449"/>
                </a:solidFill>
                <a:latin typeface="Nobile"/>
                <a:ea typeface="Nobile"/>
              </a:rPr>
              <a:t>Talks</a:t>
            </a:r>
            <a:r>
              <a:rPr b="0" lang="en-US" sz="1050" spc="-1" strike="noStrike">
                <a:solidFill>
                  <a:srgbClr val="405449"/>
                </a:solidFill>
                <a:latin typeface="Nobile"/>
                <a:ea typeface="Nobile"/>
              </a:rPr>
              <a:t> to you. You visit a website, ask a question, and get a reply. That's it — it stops there.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5"/>
          <p:cNvSpPr/>
          <p:nvPr/>
        </p:nvSpPr>
        <p:spPr>
          <a:xfrm>
            <a:off x="8922600" y="4177440"/>
            <a:ext cx="3024000" cy="1067760"/>
          </a:xfrm>
          <a:prstGeom prst="rect">
            <a:avLst/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6"/>
          <p:cNvSpPr/>
          <p:nvPr/>
        </p:nvSpPr>
        <p:spPr>
          <a:xfrm>
            <a:off x="8922600" y="4177440"/>
            <a:ext cx="3024000" cy="14760"/>
          </a:xfrm>
          <a:prstGeom prst="roundRect">
            <a:avLst>
              <a:gd name="adj" fmla="val 791520"/>
            </a:avLst>
          </a:prstGeom>
          <a:solidFill>
            <a:srgbClr val="ced9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9056520" y="4311360"/>
            <a:ext cx="23533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Fraunces Extra Bold"/>
                <a:ea typeface="Fraunces Extra Bold"/>
              </a:rPr>
              <a:t>🤖</a:t>
            </a:r>
            <a:r>
              <a:rPr b="1" lang="en-US" sz="1300" spc="-1" strike="noStrike">
                <a:solidFill>
                  <a:srgbClr val="405449"/>
                </a:solidFill>
                <a:latin typeface="Fraunces Extra Bold"/>
                <a:ea typeface="Fraunces Extra Bold"/>
              </a:rPr>
              <a:t> </a:t>
            </a:r>
            <a:r>
              <a:rPr b="1" lang="en-US" sz="1300" spc="-1" strike="noStrike">
                <a:solidFill>
                  <a:srgbClr val="405449"/>
                </a:solidFill>
                <a:latin typeface="Fraunces Extra Bold"/>
                <a:ea typeface="Fraunces Extra Bold"/>
              </a:rPr>
              <a:t>AI Agent (e.g. OpenClaw)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9056520" y="4599720"/>
            <a:ext cx="2756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05449"/>
                </a:solidFill>
                <a:latin typeface="Nobile"/>
                <a:ea typeface="Nobile"/>
              </a:rPr>
              <a:t>Acts</a:t>
            </a:r>
            <a:r>
              <a:rPr b="0" lang="en-US" sz="1050" spc="-1" strike="noStrike">
                <a:solidFill>
                  <a:srgbClr val="405449"/>
                </a:solidFill>
                <a:latin typeface="Nobile"/>
                <a:ea typeface="Nobile"/>
              </a:rPr>
              <a:t> for you. It lives inside your tools — WhatsApp, Slack, your calendar — and executes tasks </a:t>
            </a:r>
            <a:r>
              <a:rPr b="0" i="1" lang="en-US" sz="1050" spc="-1" strike="noStrike">
                <a:solidFill>
                  <a:srgbClr val="405449"/>
                </a:solidFill>
                <a:latin typeface="Nobile"/>
                <a:ea typeface="Nobile"/>
              </a:rPr>
              <a:t>autonomously</a:t>
            </a:r>
            <a:r>
              <a:rPr b="0" lang="en-US" sz="1050" spc="-1" strike="noStrike">
                <a:solidFill>
                  <a:srgbClr val="405449"/>
                </a:solidFill>
                <a:latin typeface="Nobile"/>
                <a:ea typeface="Nobile"/>
              </a:rPr>
              <a:t>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8922600" y="5334480"/>
            <a:ext cx="30240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05449"/>
                </a:solidFill>
                <a:latin typeface="Nobile"/>
                <a:ea typeface="Nobile"/>
              </a:rPr>
              <a:t>You don't go to OpenClaw. </a:t>
            </a:r>
            <a:r>
              <a:rPr b="1" lang="en-US" sz="1050" spc="-1" strike="noStrike">
                <a:solidFill>
                  <a:srgbClr val="405449"/>
                </a:solidFill>
                <a:latin typeface="Nobile"/>
                <a:ea typeface="Nobile"/>
              </a:rPr>
              <a:t>OpenClaw comes to you.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2"/>
          <a:stretch/>
        </p:blipFill>
        <p:spPr>
          <a:xfrm>
            <a:off x="12344400" y="7543800"/>
            <a:ext cx="2286000" cy="64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Image 0" descr="preencoded.png"/>
          <p:cNvPicPr/>
          <p:nvPr/>
        </p:nvPicPr>
        <p:blipFill>
          <a:blip r:embed="rId1"/>
          <a:stretch/>
        </p:blipFill>
        <p:spPr>
          <a:xfrm>
            <a:off x="246240" y="1617840"/>
            <a:ext cx="4993200" cy="4993200"/>
          </a:xfrm>
          <a:prstGeom prst="rect">
            <a:avLst/>
          </a:prstGeom>
          <a:ln w="0">
            <a:noFill/>
          </a:ln>
        </p:spPr>
      </p:pic>
      <p:sp>
        <p:nvSpPr>
          <p:cNvPr id="48" name="Text 0"/>
          <p:cNvSpPr/>
          <p:nvPr/>
        </p:nvSpPr>
        <p:spPr>
          <a:xfrm>
            <a:off x="6176160" y="834120"/>
            <a:ext cx="7764120" cy="12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3b4540"/>
                </a:solidFill>
                <a:latin typeface="Fraunces Extra Bold"/>
                <a:ea typeface="Fraunces Extra Bold"/>
              </a:rPr>
              <a:t>Why OpenClaw Is Everywhere in 2026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"/>
          <p:cNvSpPr/>
          <p:nvPr/>
        </p:nvSpPr>
        <p:spPr>
          <a:xfrm>
            <a:off x="6176160" y="2322720"/>
            <a:ext cx="3796200" cy="2745000"/>
          </a:xfrm>
          <a:prstGeom prst="roundRect">
            <a:avLst>
              <a:gd name="adj" fmla="val 6461"/>
            </a:avLst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2"/>
          <p:cNvSpPr/>
          <p:nvPr/>
        </p:nvSpPr>
        <p:spPr>
          <a:xfrm>
            <a:off x="6373080" y="2519640"/>
            <a:ext cx="590760" cy="590760"/>
          </a:xfrm>
          <a:prstGeom prst="roundRect">
            <a:avLst>
              <a:gd name="adj" fmla="val 15466739"/>
            </a:avLst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535800" y="2682360"/>
            <a:ext cx="265680" cy="265680"/>
          </a:xfrm>
          <a:prstGeom prst="rect">
            <a:avLst/>
          </a:prstGeom>
          <a:ln w="0">
            <a:noFill/>
          </a:ln>
        </p:spPr>
      </p:pic>
      <p:sp>
        <p:nvSpPr>
          <p:cNvPr id="52" name="Text 3"/>
          <p:cNvSpPr/>
          <p:nvPr/>
        </p:nvSpPr>
        <p:spPr>
          <a:xfrm>
            <a:off x="6373080" y="3282120"/>
            <a:ext cx="24631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405449"/>
                </a:solidFill>
                <a:latin typeface="Fraunces Extra Bold"/>
                <a:ea typeface="Fraunces Extra Bold"/>
              </a:rPr>
              <a:t>Open Source &amp; Free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6373080" y="3692520"/>
            <a:ext cx="340236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405449"/>
                </a:solidFill>
                <a:latin typeface="Nobile"/>
                <a:ea typeface="Nobile"/>
              </a:rPr>
              <a:t>Anyone can use it. Companies keep their data on </a:t>
            </a:r>
            <a:r>
              <a:rPr b="1" lang="en-US" sz="1550" spc="-1" strike="noStrike">
                <a:solidFill>
                  <a:srgbClr val="405449"/>
                </a:solidFill>
                <a:latin typeface="Nobile"/>
                <a:ea typeface="Nobile"/>
              </a:rPr>
              <a:t>their own servers</a:t>
            </a:r>
            <a:r>
              <a:rPr b="0" lang="en-US" sz="1550" spc="-1" strike="noStrike">
                <a:solidFill>
                  <a:srgbClr val="405449"/>
                </a:solidFill>
                <a:latin typeface="Nobile"/>
                <a:ea typeface="Nobile"/>
              </a:rPr>
              <a:t> — no big tech middleman.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5"/>
          <p:cNvSpPr/>
          <p:nvPr/>
        </p:nvSpPr>
        <p:spPr>
          <a:xfrm>
            <a:off x="10144080" y="2322720"/>
            <a:ext cx="3796200" cy="2745000"/>
          </a:xfrm>
          <a:prstGeom prst="roundRect">
            <a:avLst>
              <a:gd name="adj" fmla="val 6461"/>
            </a:avLst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6"/>
          <p:cNvSpPr/>
          <p:nvPr/>
        </p:nvSpPr>
        <p:spPr>
          <a:xfrm>
            <a:off x="10341000" y="2519640"/>
            <a:ext cx="590760" cy="590760"/>
          </a:xfrm>
          <a:prstGeom prst="roundRect">
            <a:avLst>
              <a:gd name="adj" fmla="val 15466739"/>
            </a:avLst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503720" y="2682360"/>
            <a:ext cx="265680" cy="265680"/>
          </a:xfrm>
          <a:prstGeom prst="rect">
            <a:avLst/>
          </a:prstGeom>
          <a:ln w="0">
            <a:noFill/>
          </a:ln>
        </p:spPr>
      </p:pic>
      <p:sp>
        <p:nvSpPr>
          <p:cNvPr id="57" name="Text 7"/>
          <p:cNvSpPr/>
          <p:nvPr/>
        </p:nvSpPr>
        <p:spPr>
          <a:xfrm>
            <a:off x="10341000" y="3282120"/>
            <a:ext cx="24631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405449"/>
                </a:solidFill>
                <a:latin typeface="Fraunces Extra Bold"/>
                <a:ea typeface="Fraunces Extra Bold"/>
              </a:rPr>
              <a:t>"Skills" System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8"/>
          <p:cNvSpPr/>
          <p:nvPr/>
        </p:nvSpPr>
        <p:spPr>
          <a:xfrm>
            <a:off x="10341000" y="3692520"/>
            <a:ext cx="3402360" cy="11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405449"/>
                </a:solidFill>
                <a:latin typeface="Nobile"/>
                <a:ea typeface="Nobile"/>
              </a:rPr>
              <a:t>Developers add superpowers via plugins. NVIDIA's plugin can </a:t>
            </a:r>
            <a:r>
              <a:rPr b="1" lang="en-US" sz="1550" spc="-1" strike="noStrike">
                <a:solidFill>
                  <a:srgbClr val="405449"/>
                </a:solidFill>
                <a:latin typeface="Nobile"/>
                <a:ea typeface="Nobile"/>
              </a:rPr>
              <a:t>fix server bugs automatically</a:t>
            </a:r>
            <a:r>
              <a:rPr b="0" lang="en-US" sz="1550" spc="-1" strike="noStrike">
                <a:solidFill>
                  <a:srgbClr val="405449"/>
                </a:solidFill>
                <a:latin typeface="Nobile"/>
                <a:ea typeface="Nobile"/>
              </a:rPr>
              <a:t> — zero human input.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9"/>
          <p:cNvSpPr/>
          <p:nvPr/>
        </p:nvSpPr>
        <p:spPr>
          <a:xfrm>
            <a:off x="6176160" y="5239080"/>
            <a:ext cx="7764120" cy="2155680"/>
          </a:xfrm>
          <a:prstGeom prst="roundRect">
            <a:avLst>
              <a:gd name="adj" fmla="val 8227"/>
            </a:avLst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10"/>
          <p:cNvSpPr/>
          <p:nvPr/>
        </p:nvSpPr>
        <p:spPr>
          <a:xfrm>
            <a:off x="6373080" y="5436000"/>
            <a:ext cx="590760" cy="590760"/>
          </a:xfrm>
          <a:prstGeom prst="roundRect">
            <a:avLst>
              <a:gd name="adj" fmla="val 15466739"/>
            </a:avLst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535800" y="5598720"/>
            <a:ext cx="265680" cy="265680"/>
          </a:xfrm>
          <a:prstGeom prst="rect">
            <a:avLst/>
          </a:prstGeom>
          <a:ln w="0">
            <a:noFill/>
          </a:ln>
        </p:spPr>
      </p:pic>
      <p:sp>
        <p:nvSpPr>
          <p:cNvPr id="62" name="Text 11"/>
          <p:cNvSpPr/>
          <p:nvPr/>
        </p:nvSpPr>
        <p:spPr>
          <a:xfrm>
            <a:off x="6373080" y="6198480"/>
            <a:ext cx="29332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405449"/>
                </a:solidFill>
                <a:latin typeface="Fraunces Extra Bold"/>
                <a:ea typeface="Fraunces Extra Bold"/>
              </a:rPr>
              <a:t>300,000+ GitHub Stars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6373080" y="6608880"/>
            <a:ext cx="736992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405449"/>
                </a:solidFill>
                <a:latin typeface="Nobile"/>
                <a:ea typeface="Nobile"/>
              </a:rPr>
              <a:t>A </a:t>
            </a:r>
            <a:r>
              <a:rPr b="1" lang="en-US" sz="1550" spc="-1" strike="noStrike">
                <a:solidFill>
                  <a:srgbClr val="405449"/>
                </a:solidFill>
                <a:latin typeface="Nobile"/>
                <a:ea typeface="Nobile"/>
              </a:rPr>
              <a:t>world record</a:t>
            </a:r>
            <a:r>
              <a:rPr b="0" lang="en-US" sz="1550" spc="-1" strike="noStrike">
                <a:solidFill>
                  <a:srgbClr val="405449"/>
                </a:solidFill>
                <a:latin typeface="Nobile"/>
                <a:ea typeface="Nobile"/>
              </a:rPr>
              <a:t>. More community momentum than any open-source project before it.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8"/>
          <a:stretch/>
        </p:blipFill>
        <p:spPr>
          <a:xfrm>
            <a:off x="12344400" y="7543800"/>
            <a:ext cx="2286000" cy="64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2158560" y="648720"/>
            <a:ext cx="6661440" cy="46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651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3b4540"/>
                </a:solidFill>
                <a:latin typeface="Fraunces Extra Bold"/>
                <a:ea typeface="Fraunces Extra Bold"/>
              </a:rPr>
              <a:t>Huge Potential — But Serious Risks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"/>
          <p:cNvSpPr/>
          <p:nvPr/>
        </p:nvSpPr>
        <p:spPr>
          <a:xfrm>
            <a:off x="2158560" y="2124360"/>
            <a:ext cx="3372120" cy="1263240"/>
          </a:xfrm>
          <a:prstGeom prst="roundRect">
            <a:avLst>
              <a:gd name="adj" fmla="val 5789"/>
            </a:avLst>
          </a:prstGeom>
          <a:solidFill>
            <a:srgbClr val="fafffa"/>
          </a:solidFill>
          <a:ln w="15240">
            <a:solidFill>
              <a:srgbClr val="ce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2"/>
          <p:cNvSpPr/>
          <p:nvPr/>
        </p:nvSpPr>
        <p:spPr>
          <a:xfrm>
            <a:off x="2143440" y="2124360"/>
            <a:ext cx="60480" cy="1263240"/>
          </a:xfrm>
          <a:prstGeom prst="roundRect">
            <a:avLst>
              <a:gd name="adj" fmla="val 220668"/>
            </a:avLst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2369160" y="2288880"/>
            <a:ext cx="186768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0000"/>
                </a:solidFill>
                <a:latin typeface="Fraunces Extra Bold"/>
                <a:ea typeface="Fraunces Extra Bold"/>
              </a:rPr>
              <a:t>📉</a:t>
            </a:r>
            <a:r>
              <a:rPr b="1" lang="en-US" sz="1450" spc="-1" strike="noStrike">
                <a:solidFill>
                  <a:srgbClr val="405449"/>
                </a:solidFill>
                <a:latin typeface="Fraunces Extra Bold"/>
                <a:ea typeface="Fraunces Extra Bold"/>
              </a:rPr>
              <a:t> </a:t>
            </a:r>
            <a:r>
              <a:rPr b="1" lang="en-US" sz="1450" spc="-1" strike="noStrike">
                <a:solidFill>
                  <a:srgbClr val="405449"/>
                </a:solidFill>
                <a:latin typeface="Fraunces Extra Bold"/>
                <a:ea typeface="Fraunces Extra Bold"/>
              </a:rPr>
              <a:t>Business Impact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2369160" y="2628360"/>
            <a:ext cx="299700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OpenClaw can reduce </a:t>
            </a:r>
            <a:r>
              <a:rPr b="1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customer support costs by up to 80%</a:t>
            </a: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 through autonomous, always-on AI agents.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5"/>
          <p:cNvSpPr/>
          <p:nvPr/>
        </p:nvSpPr>
        <p:spPr>
          <a:xfrm>
            <a:off x="2158560" y="3486240"/>
            <a:ext cx="3372120" cy="1263240"/>
          </a:xfrm>
          <a:prstGeom prst="roundRect">
            <a:avLst>
              <a:gd name="adj" fmla="val 5789"/>
            </a:avLst>
          </a:prstGeom>
          <a:solidFill>
            <a:srgbClr val="fafffa"/>
          </a:solidFill>
          <a:ln w="15240">
            <a:solidFill>
              <a:srgbClr val="ce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6"/>
          <p:cNvSpPr/>
          <p:nvPr/>
        </p:nvSpPr>
        <p:spPr>
          <a:xfrm>
            <a:off x="2143440" y="3486240"/>
            <a:ext cx="60480" cy="1263240"/>
          </a:xfrm>
          <a:prstGeom prst="roundRect">
            <a:avLst>
              <a:gd name="adj" fmla="val 220668"/>
            </a:avLst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2369160" y="3650760"/>
            <a:ext cx="236556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0000"/>
                </a:solidFill>
                <a:latin typeface="Fraunces Extra Bold"/>
                <a:ea typeface="Fraunces Extra Bold"/>
              </a:rPr>
              <a:t>🔓</a:t>
            </a:r>
            <a:r>
              <a:rPr b="1" lang="en-US" sz="1450" spc="-1" strike="noStrike">
                <a:solidFill>
                  <a:srgbClr val="405449"/>
                </a:solidFill>
                <a:latin typeface="Fraunces Extra Bold"/>
                <a:ea typeface="Fraunces Extra Bold"/>
              </a:rPr>
              <a:t> </a:t>
            </a:r>
            <a:r>
              <a:rPr b="1" lang="en-US" sz="1450" spc="-1" strike="noStrike">
                <a:solidFill>
                  <a:srgbClr val="405449"/>
                </a:solidFill>
                <a:latin typeface="Fraunces Extra Bold"/>
                <a:ea typeface="Fraunces Extra Bold"/>
              </a:rPr>
              <a:t>Security Vulnerability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2369160" y="3990600"/>
            <a:ext cx="299700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In March 2026, hackers demonstrated they could </a:t>
            </a:r>
            <a:r>
              <a:rPr b="1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"kidnap" an agent</a:t>
            </a: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 to steal private company files.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9"/>
          <p:cNvSpPr/>
          <p:nvPr/>
        </p:nvSpPr>
        <p:spPr>
          <a:xfrm>
            <a:off x="2158560" y="4848480"/>
            <a:ext cx="3372120" cy="1263240"/>
          </a:xfrm>
          <a:prstGeom prst="roundRect">
            <a:avLst>
              <a:gd name="adj" fmla="val 5789"/>
            </a:avLst>
          </a:prstGeom>
          <a:solidFill>
            <a:srgbClr val="fafffa"/>
          </a:solidFill>
          <a:ln w="15240">
            <a:solidFill>
              <a:srgbClr val="ce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0"/>
          <p:cNvSpPr/>
          <p:nvPr/>
        </p:nvSpPr>
        <p:spPr>
          <a:xfrm>
            <a:off x="2143440" y="4848480"/>
            <a:ext cx="60480" cy="1263240"/>
          </a:xfrm>
          <a:prstGeom prst="roundRect">
            <a:avLst>
              <a:gd name="adj" fmla="val 220668"/>
            </a:avLst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1"/>
          <p:cNvSpPr/>
          <p:nvPr/>
        </p:nvSpPr>
        <p:spPr>
          <a:xfrm>
            <a:off x="2369160" y="5013000"/>
            <a:ext cx="186768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0000"/>
                </a:solidFill>
                <a:latin typeface="Fraunces Extra Bold"/>
                <a:ea typeface="Fraunces Extra Bold"/>
              </a:rPr>
              <a:t>⚖️</a:t>
            </a:r>
            <a:r>
              <a:rPr b="1" lang="en-US" sz="1450" spc="-1" strike="noStrike">
                <a:solidFill>
                  <a:srgbClr val="405449"/>
                </a:solidFill>
                <a:latin typeface="Fraunces Extra Bold"/>
                <a:ea typeface="Fraunces Extra Bold"/>
              </a:rPr>
              <a:t> </a:t>
            </a:r>
            <a:r>
              <a:rPr b="1" lang="en-US" sz="1450" spc="-1" strike="noStrike">
                <a:solidFill>
                  <a:srgbClr val="405449"/>
                </a:solidFill>
                <a:latin typeface="Fraunces Extra Bold"/>
                <a:ea typeface="Fraunces Extra Bold"/>
              </a:rPr>
              <a:t>Ethical Question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2"/>
          <p:cNvSpPr/>
          <p:nvPr/>
        </p:nvSpPr>
        <p:spPr>
          <a:xfrm>
            <a:off x="2369160" y="5352480"/>
            <a:ext cx="299700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If an AI agent makes a costly mistake — </a:t>
            </a:r>
            <a:r>
              <a:rPr b="1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who is legally responsible?</a:t>
            </a: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 The developer? The company? The user?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Image 0" descr="preencoded.png"/>
          <p:cNvPicPr/>
          <p:nvPr/>
        </p:nvPicPr>
        <p:blipFill>
          <a:blip r:embed="rId1"/>
          <a:stretch/>
        </p:blipFill>
        <p:spPr>
          <a:xfrm>
            <a:off x="5903280" y="1374120"/>
            <a:ext cx="5200920" cy="5200920"/>
          </a:xfrm>
          <a:prstGeom prst="rect">
            <a:avLst/>
          </a:prstGeom>
          <a:ln w="0">
            <a:noFill/>
          </a:ln>
        </p:spPr>
      </p:pic>
      <p:sp>
        <p:nvSpPr>
          <p:cNvPr id="79" name="Text 13"/>
          <p:cNvSpPr/>
          <p:nvPr/>
        </p:nvSpPr>
        <p:spPr>
          <a:xfrm>
            <a:off x="5903280" y="6685920"/>
            <a:ext cx="65754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4"/>
          <p:cNvSpPr/>
          <p:nvPr/>
        </p:nvSpPr>
        <p:spPr>
          <a:xfrm>
            <a:off x="2158560" y="7083720"/>
            <a:ext cx="10312560" cy="496800"/>
          </a:xfrm>
          <a:prstGeom prst="roundRect">
            <a:avLst>
              <a:gd name="adj" fmla="val 27055"/>
            </a:avLst>
          </a:prstGeom>
          <a:solidFill>
            <a:srgbClr val="cce6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Image 1" descr="preencoded.png"/>
          <p:cNvPicPr/>
          <p:nvPr/>
        </p:nvPicPr>
        <p:blipFill>
          <a:blip r:embed="rId2"/>
          <a:stretch/>
        </p:blipFill>
        <p:spPr>
          <a:xfrm>
            <a:off x="2307960" y="7276680"/>
            <a:ext cx="186480" cy="149040"/>
          </a:xfrm>
          <a:prstGeom prst="rect">
            <a:avLst/>
          </a:prstGeom>
          <a:ln w="0">
            <a:noFill/>
          </a:ln>
        </p:spPr>
      </p:pic>
      <p:sp>
        <p:nvSpPr>
          <p:cNvPr id="82" name="Text 15"/>
          <p:cNvSpPr/>
          <p:nvPr/>
        </p:nvSpPr>
        <p:spPr>
          <a:xfrm>
            <a:off x="2644200" y="7219440"/>
            <a:ext cx="96775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00000"/>
                </a:solidFill>
                <a:latin typeface="Nobile"/>
                <a:ea typeface="Nobile"/>
              </a:rPr>
              <a:t>Key analogy:</a:t>
            </a:r>
            <a:r>
              <a:rPr b="0" lang="en-US" sz="1150" spc="-1" strike="noStrike">
                <a:solidFill>
                  <a:srgbClr val="000000"/>
                </a:solidFill>
                <a:latin typeface="Nobile"/>
                <a:ea typeface="Nobile"/>
              </a:rPr>
              <a:t> "If you give an AI the keys to your house, you have to be sure the lock is </a:t>
            </a:r>
            <a:r>
              <a:rPr b="0" i="1" lang="en-US" sz="1150" spc="-1" strike="noStrike">
                <a:solidFill>
                  <a:srgbClr val="000000"/>
                </a:solidFill>
                <a:latin typeface="Nobile"/>
                <a:ea typeface="Nobile"/>
              </a:rPr>
              <a:t>perfect</a:t>
            </a:r>
            <a:r>
              <a:rPr b="0" lang="en-US" sz="1150" spc="-1" strike="noStrike">
                <a:solidFill>
                  <a:srgbClr val="000000"/>
                </a:solidFill>
                <a:latin typeface="Nobile"/>
                <a:ea typeface="Nobile"/>
              </a:rPr>
              <a:t>."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3"/>
          <a:stretch/>
        </p:blipFill>
        <p:spPr>
          <a:xfrm>
            <a:off x="12573000" y="7608600"/>
            <a:ext cx="2057400" cy="582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85" name="Text 0"/>
          <p:cNvSpPr/>
          <p:nvPr/>
        </p:nvSpPr>
        <p:spPr>
          <a:xfrm>
            <a:off x="6280200" y="648720"/>
            <a:ext cx="659160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1" lang="en-US" sz="4450" spc="-1" strike="noStrike">
                <a:solidFill>
                  <a:srgbClr val="3b4540"/>
                </a:solidFill>
                <a:latin typeface="Fraunces Extra Bold"/>
                <a:ea typeface="Fraunces Extra Bold"/>
              </a:rPr>
              <a:t>The Linux of the AI Era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6620400" y="1953000"/>
            <a:ext cx="72158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05449"/>
                </a:solidFill>
                <a:latin typeface="Nobile"/>
                <a:ea typeface="Nobile"/>
              </a:rPr>
              <a:t>"OpenClaw gives power back to the users and breaks the monopoly of big corporations."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"/>
          <p:cNvSpPr/>
          <p:nvPr/>
        </p:nvSpPr>
        <p:spPr>
          <a:xfrm>
            <a:off x="6280200" y="1697760"/>
            <a:ext cx="30240" cy="123588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8" name="Image 1" descr="preencoded.png"/>
          <p:cNvPicPr/>
          <p:nvPr/>
        </p:nvPicPr>
        <p:blipFill>
          <a:blip r:embed="rId2"/>
          <a:stretch/>
        </p:blipFill>
        <p:spPr>
          <a:xfrm>
            <a:off x="6280200" y="3189240"/>
            <a:ext cx="1133640" cy="1360440"/>
          </a:xfrm>
          <a:prstGeom prst="rect">
            <a:avLst/>
          </a:prstGeom>
          <a:ln w="0">
            <a:noFill/>
          </a:ln>
        </p:spPr>
      </p:pic>
      <p:sp>
        <p:nvSpPr>
          <p:cNvPr id="89" name="Text 3"/>
          <p:cNvSpPr/>
          <p:nvPr/>
        </p:nvSpPr>
        <p:spPr>
          <a:xfrm>
            <a:off x="7641000" y="341604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405449"/>
                </a:solidFill>
                <a:latin typeface="Fraunces Extra Bold"/>
                <a:ea typeface="Fraunces Extra Bold"/>
              </a:rPr>
              <a:t>Today (2026)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7641000" y="3906360"/>
            <a:ext cx="61952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05449"/>
                </a:solidFill>
                <a:latin typeface="Nobile"/>
                <a:ea typeface="Nobile"/>
              </a:rPr>
              <a:t>Early adopters and developers build their own "Claws"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 2" descr="preencoded.png"/>
          <p:cNvPicPr/>
          <p:nvPr/>
        </p:nvPicPr>
        <p:blipFill>
          <a:blip r:embed="rId3"/>
          <a:stretch/>
        </p:blipFill>
        <p:spPr>
          <a:xfrm>
            <a:off x="6280200" y="4550040"/>
            <a:ext cx="1133640" cy="1360440"/>
          </a:xfrm>
          <a:prstGeom prst="rect">
            <a:avLst/>
          </a:prstGeom>
          <a:ln w="0">
            <a:noFill/>
          </a:ln>
        </p:spPr>
      </p:pic>
      <p:sp>
        <p:nvSpPr>
          <p:cNvPr id="92" name="Text 5"/>
          <p:cNvSpPr/>
          <p:nvPr/>
        </p:nvSpPr>
        <p:spPr>
          <a:xfrm>
            <a:off x="7641000" y="477684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405449"/>
                </a:solidFill>
                <a:latin typeface="Fraunces Extra Bold"/>
                <a:ea typeface="Fraunces Extra Bold"/>
              </a:rPr>
              <a:t>By 2027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7641000" y="5267160"/>
            <a:ext cx="61952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05449"/>
                </a:solidFill>
                <a:latin typeface="Nobile"/>
                <a:ea typeface="Nobile"/>
              </a:rPr>
              <a:t>Every professional has an AI agent handling admin work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Image 3" descr="preencoded.png"/>
          <p:cNvPicPr/>
          <p:nvPr/>
        </p:nvPicPr>
        <p:blipFill>
          <a:blip r:embed="rId4"/>
          <a:stretch/>
        </p:blipFill>
        <p:spPr>
          <a:xfrm>
            <a:off x="6280200" y="5910840"/>
            <a:ext cx="1133640" cy="1669320"/>
          </a:xfrm>
          <a:prstGeom prst="rect">
            <a:avLst/>
          </a:prstGeom>
          <a:ln w="0">
            <a:noFill/>
          </a:ln>
        </p:spPr>
      </p:pic>
      <p:sp>
        <p:nvSpPr>
          <p:cNvPr id="95" name="Text 7"/>
          <p:cNvSpPr/>
          <p:nvPr/>
        </p:nvSpPr>
        <p:spPr>
          <a:xfrm>
            <a:off x="7641000" y="613764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405449"/>
                </a:solidFill>
                <a:latin typeface="Fraunces Extra Bold"/>
                <a:ea typeface="Fraunces Extra Bold"/>
              </a:rPr>
              <a:t>Your Turn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7641000" y="6627960"/>
            <a:ext cx="61952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05449"/>
                </a:solidFill>
                <a:latin typeface="Nobile"/>
                <a:ea typeface="Nobile"/>
              </a:rPr>
              <a:t>Are </a:t>
            </a:r>
            <a:r>
              <a:rPr b="0" i="1" lang="en-US" sz="1750" spc="-1" strike="noStrike">
                <a:solidFill>
                  <a:srgbClr val="405449"/>
                </a:solidFill>
                <a:latin typeface="Nobile"/>
                <a:ea typeface="Nobile"/>
              </a:rPr>
              <a:t>you</a:t>
            </a:r>
            <a:r>
              <a:rPr b="0" lang="en-US" sz="1750" spc="-1" strike="noStrike">
                <a:solidFill>
                  <a:srgbClr val="405449"/>
                </a:solidFill>
                <a:latin typeface="Nobile"/>
                <a:ea typeface="Nobile"/>
              </a:rPr>
              <a:t> ready to let an AI manage your bank account or private messages?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5"/>
          <a:stretch/>
        </p:blipFill>
        <p:spPr>
          <a:xfrm>
            <a:off x="12344400" y="7543800"/>
            <a:ext cx="2286000" cy="64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2026-04-03T09:41:12Z</dcterms:created>
  <dc:creator/>
  <dc:description/>
  <dc:language>en-US</dc:language>
  <cp:lastModifiedBy/>
  <dcterms:modified xsi:type="dcterms:W3CDTF">2026-04-03T11:42:27Z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