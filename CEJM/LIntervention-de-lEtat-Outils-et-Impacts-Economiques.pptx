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_rels/presentation.xml.rels" ContentType="application/vnd.openxmlformats-package.relationships+xml"/>
  <Override PartName="/ppt/media/image11.png" ContentType="image/png"/>
  <Override PartName="/ppt/media/image2.png" ContentType="image/png"/>
  <Override PartName="/ppt/media/image15.svg" ContentType="image/svg"/>
  <Override PartName="/ppt/media/image14.png" ContentType="image/png"/>
  <Override PartName="/ppt/media/image7.svg" ContentType="image/svg"/>
  <Override PartName="/ppt/media/image5.svg" ContentType="image/svg"/>
  <Override PartName="/ppt/media/image8.png" ContentType="image/png"/>
  <Override PartName="/ppt/media/image12.png" ContentType="image/png"/>
  <Override PartName="/ppt/media/image3.png" ContentType="image/png"/>
  <Override PartName="/ppt/media/image6.png" ContentType="image/png"/>
  <Override PartName="/ppt/media/image1.png" ContentType="image/png"/>
  <Override PartName="/ppt/media/image10.png" ContentType="image/png"/>
  <Override PartName="/ppt/media/image9.png" ContentType="image/png"/>
  <Override PartName="/ppt/media/image13.png" ContentType="image/png"/>
  <Override PartName="/ppt/media/image4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D5523E7-A57E-4DD6-AFDC-9C79B6E3C46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797661-56A1-4832-8788-F1597F5B030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B57770-D05C-45F0-AA53-8E1F8AF0647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1D8996-1B99-48AF-A598-D44E435130E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62E78A-51DE-4DC5-8D1F-C7B1CC4F95E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238192-B136-477E-8487-617BDD6D2EC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5c73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f9f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the 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5c73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f9f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the 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5c73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f9f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5c73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f9f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li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tl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5c73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f9f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32" name="Text 0"/>
          <p:cNvSpPr/>
          <p:nvPr/>
        </p:nvSpPr>
        <p:spPr>
          <a:xfrm>
            <a:off x="793800" y="2337120"/>
            <a:ext cx="7555680" cy="21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en-US" sz="4450" spc="-1" strike="noStrike">
                <a:solidFill>
                  <a:srgbClr val="1b1b27"/>
                </a:solidFill>
                <a:latin typeface="Alexandria"/>
                <a:ea typeface="Alexandria"/>
              </a:rPr>
              <a:t>L'Intervention de l'État : Outils et Impacts Économiques</a:t>
            </a:r>
            <a:endParaRPr b="0" lang="en-US" sz="4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"/>
          <p:cNvSpPr/>
          <p:nvPr/>
        </p:nvSpPr>
        <p:spPr>
          <a:xfrm>
            <a:off x="793800" y="4803840"/>
            <a:ext cx="755568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404155"/>
                </a:solidFill>
                <a:latin typeface="Nobile"/>
                <a:ea typeface="Nobile"/>
              </a:rPr>
              <a:t>Comment les politiques conjoncturelles et structurelles influent sur l'environnement des entreprises, et les limites auxquels l'État fait face.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imple"/>
          <p:cNvSpPr txBox="1"/>
          <p:nvPr/>
        </p:nvSpPr>
        <p:spPr>
          <a:xfrm>
            <a:off x="706320" y="7315200"/>
            <a:ext cx="1808280" cy="685800"/>
          </a:xfrm>
          <a:prstGeom prst="rect">
            <a:avLst/>
          </a:prstGeom>
        </p:spPr>
        <p:txBody>
          <a:bodyPr wrap="none" lIns="94680" rIns="94680" tIns="51480" bIns="5148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>
              <a:lnSpc>
                <a:spcPct val="100000"/>
              </a:lnSpc>
            </a:pPr>
            <a:r>
              <a:rPr b="1" lang="en-US" sz="700" spc="-1" strike="noStrike">
                <a:ln w="19080">
                  <a:solidFill>
                    <a:srgbClr val="808080"/>
                  </a:solidFill>
                  <a:miter/>
                </a:ln>
                <a:solidFill>
                  <a:srgbClr val="ffffff"/>
                </a:solidFill>
                <a:latin typeface="Noto Sans"/>
                <a:ea typeface="MS Gothic"/>
              </a:rPr>
              <a:t>Adam Planque</a:t>
            </a:r>
            <a:endParaRPr b="1" lang="en-US" sz="700" spc="-1" strike="noStrike">
              <a:ln w="19080">
                <a:solidFill>
                  <a:srgbClr val="808080"/>
                </a:solidFill>
                <a:miter/>
              </a:ln>
              <a:solidFill>
                <a:srgbClr val="ffffff"/>
              </a:solidFill>
              <a:latin typeface="Noto Sans"/>
              <a:ea typeface="MS Gothic"/>
            </a:endParaRPr>
          </a:p>
          <a:p>
            <a:pPr>
              <a:lnSpc>
                <a:spcPct val="100000"/>
              </a:lnSpc>
            </a:pPr>
            <a:r>
              <a:rPr b="1" lang="en-US" sz="700" spc="-1" strike="noStrike">
                <a:ln w="19080">
                  <a:solidFill>
                    <a:srgbClr val="808080"/>
                  </a:solidFill>
                  <a:miter/>
                </a:ln>
                <a:solidFill>
                  <a:srgbClr val="ffffff"/>
                </a:solidFill>
                <a:latin typeface="Noto Sans"/>
                <a:ea typeface="MS Gothic"/>
              </a:rPr>
              <a:t>Dorian Mansion</a:t>
            </a:r>
            <a:endParaRPr b="1" lang="en-US" sz="700" spc="-1" strike="noStrike">
              <a:ln w="19080">
                <a:solidFill>
                  <a:srgbClr val="808080"/>
                </a:solidFill>
                <a:miter/>
              </a:ln>
              <a:solidFill>
                <a:srgbClr val="ffffff"/>
              </a:solidFill>
              <a:latin typeface="Noto Sans"/>
              <a:ea typeface="MS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36" name="Text 0"/>
          <p:cNvSpPr/>
          <p:nvPr/>
        </p:nvSpPr>
        <p:spPr>
          <a:xfrm>
            <a:off x="6242400" y="767880"/>
            <a:ext cx="7631280" cy="10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249"/>
              </a:lnSpc>
              <a:tabLst>
                <a:tab algn="l" pos="0"/>
              </a:tabLst>
            </a:pPr>
            <a:r>
              <a:rPr b="0" lang="en-US" sz="3400" spc="-1" strike="noStrike">
                <a:solidFill>
                  <a:srgbClr val="1b1b27"/>
                </a:solidFill>
                <a:latin typeface="Alexandria"/>
                <a:ea typeface="Alexandria"/>
              </a:rPr>
              <a:t>Politiques Conjoncturelles : Agir sur le Court Terme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6242400" y="2171880"/>
            <a:ext cx="7631280" cy="2536200"/>
          </a:xfrm>
          <a:prstGeom prst="roundRect">
            <a:avLst>
              <a:gd name="adj" fmla="val 3577"/>
            </a:avLst>
          </a:prstGeom>
          <a:solidFill>
            <a:srgbClr val="d2ddf9"/>
          </a:solidFill>
          <a:ln w="762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6465960" y="2395440"/>
            <a:ext cx="647280" cy="647280"/>
          </a:xfrm>
          <a:prstGeom prst="roundRect">
            <a:avLst>
              <a:gd name="adj" fmla="val 14108459"/>
            </a:avLst>
          </a:prstGeom>
          <a:solidFill>
            <a:srgbClr val="1b5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9" name="Image 1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644160" y="257364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40" name="Text 3"/>
          <p:cNvSpPr/>
          <p:nvPr/>
        </p:nvSpPr>
        <p:spPr>
          <a:xfrm>
            <a:off x="6465960" y="3259440"/>
            <a:ext cx="3332520" cy="40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3149"/>
              </a:lnSpc>
              <a:tabLst>
                <a:tab algn="l" pos="0"/>
              </a:tabLst>
            </a:pPr>
            <a:r>
              <a:rPr b="0" lang="en-US" sz="2550" spc="-1" strike="noStrike">
                <a:solidFill>
                  <a:srgbClr val="404155"/>
                </a:solidFill>
                <a:latin typeface="Alexandria"/>
                <a:ea typeface="Alexandria"/>
              </a:rPr>
              <a:t>Politique Budgétaire</a:t>
            </a:r>
            <a:endParaRPr b="0" lang="en-US" sz="2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6465960" y="3794040"/>
            <a:ext cx="7184160" cy="69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70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404155"/>
                </a:solidFill>
                <a:latin typeface="Nobile"/>
                <a:ea typeface="Nobile"/>
              </a:rPr>
              <a:t>L'État utilise son budget pour influencer l'économie via les dépenses (investissements publics, subventions) et les recettes (impôts, taxes).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6242400" y="4924800"/>
            <a:ext cx="7631280" cy="2536200"/>
          </a:xfrm>
          <a:prstGeom prst="roundRect">
            <a:avLst>
              <a:gd name="adj" fmla="val 3577"/>
            </a:avLst>
          </a:prstGeom>
          <a:solidFill>
            <a:srgbClr val="d2ddf9"/>
          </a:solidFill>
          <a:ln w="762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6"/>
          <p:cNvSpPr/>
          <p:nvPr/>
        </p:nvSpPr>
        <p:spPr>
          <a:xfrm>
            <a:off x="6465960" y="5148360"/>
            <a:ext cx="647280" cy="647280"/>
          </a:xfrm>
          <a:prstGeom prst="roundRect">
            <a:avLst>
              <a:gd name="adj" fmla="val 14108459"/>
            </a:avLst>
          </a:prstGeom>
          <a:solidFill>
            <a:srgbClr val="1b5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" name="Image 2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644160" y="532656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45" name="Text 7"/>
          <p:cNvSpPr/>
          <p:nvPr/>
        </p:nvSpPr>
        <p:spPr>
          <a:xfrm>
            <a:off x="6465960" y="6012360"/>
            <a:ext cx="3239640" cy="40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3149"/>
              </a:lnSpc>
              <a:tabLst>
                <a:tab algn="l" pos="0"/>
              </a:tabLst>
            </a:pPr>
            <a:r>
              <a:rPr b="0" lang="en-US" sz="2550" spc="-1" strike="noStrike">
                <a:solidFill>
                  <a:srgbClr val="404155"/>
                </a:solidFill>
                <a:latin typeface="Alexandria"/>
                <a:ea typeface="Alexandria"/>
              </a:rPr>
              <a:t>Politique Monétaire</a:t>
            </a:r>
            <a:endParaRPr b="0" lang="en-US" sz="2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8"/>
          <p:cNvSpPr/>
          <p:nvPr/>
        </p:nvSpPr>
        <p:spPr>
          <a:xfrm>
            <a:off x="6465960" y="6546960"/>
            <a:ext cx="7184160" cy="69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70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404155"/>
                </a:solidFill>
                <a:latin typeface="Nobile"/>
                <a:ea typeface="Nobile"/>
              </a:rPr>
              <a:t>La Banque Centrale agit sur les taux directeurs pour réguler la masse monétaire, impactant le crédit et l'investissement.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" descr=""/>
          <p:cNvPicPr/>
          <p:nvPr/>
        </p:nvPicPr>
        <p:blipFill>
          <a:blip r:embed="rId6"/>
          <a:stretch/>
        </p:blipFill>
        <p:spPr>
          <a:xfrm>
            <a:off x="12573000" y="7772400"/>
            <a:ext cx="204732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49" name="Text 0"/>
          <p:cNvSpPr/>
          <p:nvPr/>
        </p:nvSpPr>
        <p:spPr>
          <a:xfrm>
            <a:off x="6149160" y="769320"/>
            <a:ext cx="777492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3699"/>
              </a:lnSpc>
              <a:tabLst>
                <a:tab algn="l" pos="0"/>
              </a:tabLst>
            </a:pPr>
            <a:r>
              <a:rPr b="0" lang="en-US" sz="2950" spc="-1" strike="noStrike">
                <a:solidFill>
                  <a:srgbClr val="1b1b27"/>
                </a:solidFill>
                <a:latin typeface="Alexandria"/>
                <a:ea typeface="Alexandria"/>
              </a:rPr>
              <a:t>Politiques Structurelles </a:t>
            </a:r>
            <a:endParaRPr b="0" lang="en-US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6149160" y="1526760"/>
            <a:ext cx="781812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404155"/>
                </a:solidFill>
                <a:latin typeface="Nobile"/>
                <a:ea typeface="Nobile"/>
              </a:rPr>
              <a:t>Ces réformes de long terme visent à transformer durablement le système économique. Elles sont essentielles pour la croissance future.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2"/>
          <p:cNvSpPr/>
          <p:nvPr/>
        </p:nvSpPr>
        <p:spPr>
          <a:xfrm>
            <a:off x="6149160" y="2345400"/>
            <a:ext cx="7818120" cy="1135800"/>
          </a:xfrm>
          <a:prstGeom prst="roundRect">
            <a:avLst>
              <a:gd name="adj" fmla="val 6996"/>
            </a:avLst>
          </a:prstGeom>
          <a:solidFill>
            <a:srgbClr val="f9f9ff"/>
          </a:solidFill>
          <a:ln w="2286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3"/>
          <p:cNvSpPr/>
          <p:nvPr/>
        </p:nvSpPr>
        <p:spPr>
          <a:xfrm>
            <a:off x="6171840" y="2368440"/>
            <a:ext cx="756720" cy="1090080"/>
          </a:xfrm>
          <a:prstGeom prst="roundRect">
            <a:avLst>
              <a:gd name="adj" fmla="val 6878"/>
            </a:avLst>
          </a:prstGeom>
          <a:solidFill>
            <a:srgbClr val="d2dd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4"/>
          <p:cNvSpPr/>
          <p:nvPr/>
        </p:nvSpPr>
        <p:spPr>
          <a:xfrm>
            <a:off x="6404760" y="2736360"/>
            <a:ext cx="2833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404155"/>
                </a:solidFill>
                <a:latin typeface="Alexandria"/>
                <a:ea typeface="Alexandria"/>
              </a:rPr>
              <a:t>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5"/>
          <p:cNvSpPr/>
          <p:nvPr/>
        </p:nvSpPr>
        <p:spPr>
          <a:xfrm>
            <a:off x="7118640" y="2557800"/>
            <a:ext cx="30826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404155"/>
                </a:solidFill>
                <a:latin typeface="Alexandria"/>
                <a:ea typeface="Alexandria"/>
              </a:rPr>
              <a:t>Formation Professionnelle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6"/>
          <p:cNvSpPr/>
          <p:nvPr/>
        </p:nvSpPr>
        <p:spPr>
          <a:xfrm>
            <a:off x="7118640" y="2967120"/>
            <a:ext cx="66362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404155"/>
                </a:solidFill>
                <a:latin typeface="Nobile"/>
                <a:ea typeface="Nobile"/>
              </a:rPr>
              <a:t>Adapter les compétences de la main-d'œuvre aux besoins du marché.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7"/>
          <p:cNvSpPr/>
          <p:nvPr/>
        </p:nvSpPr>
        <p:spPr>
          <a:xfrm>
            <a:off x="6149160" y="3671640"/>
            <a:ext cx="7818120" cy="1135800"/>
          </a:xfrm>
          <a:prstGeom prst="roundRect">
            <a:avLst>
              <a:gd name="adj" fmla="val 6996"/>
            </a:avLst>
          </a:prstGeom>
          <a:solidFill>
            <a:srgbClr val="f9f9ff"/>
          </a:solidFill>
          <a:ln w="2286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8"/>
          <p:cNvSpPr/>
          <p:nvPr/>
        </p:nvSpPr>
        <p:spPr>
          <a:xfrm>
            <a:off x="6171840" y="3694320"/>
            <a:ext cx="756720" cy="1090080"/>
          </a:xfrm>
          <a:prstGeom prst="roundRect">
            <a:avLst>
              <a:gd name="adj" fmla="val 6878"/>
            </a:avLst>
          </a:prstGeom>
          <a:solidFill>
            <a:srgbClr val="d2dd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9"/>
          <p:cNvSpPr/>
          <p:nvPr/>
        </p:nvSpPr>
        <p:spPr>
          <a:xfrm>
            <a:off x="6404760" y="4062240"/>
            <a:ext cx="2833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404155"/>
                </a:solidFill>
                <a:latin typeface="Alexandria"/>
                <a:ea typeface="Alexandria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10"/>
          <p:cNvSpPr/>
          <p:nvPr/>
        </p:nvSpPr>
        <p:spPr>
          <a:xfrm>
            <a:off x="7118640" y="3883680"/>
            <a:ext cx="352800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404155"/>
                </a:solidFill>
                <a:latin typeface="Alexandria"/>
                <a:ea typeface="Alexandria"/>
              </a:rPr>
              <a:t>Politiques Environnementales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1"/>
          <p:cNvSpPr/>
          <p:nvPr/>
        </p:nvSpPr>
        <p:spPr>
          <a:xfrm>
            <a:off x="7118640" y="4293000"/>
            <a:ext cx="66362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404155"/>
                </a:solidFill>
                <a:latin typeface="Nobile"/>
                <a:ea typeface="Nobile"/>
              </a:rPr>
              <a:t>Promouvoir une économie durable et respectueuse de l'environnement.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12"/>
          <p:cNvSpPr/>
          <p:nvPr/>
        </p:nvSpPr>
        <p:spPr>
          <a:xfrm>
            <a:off x="6149160" y="4997520"/>
            <a:ext cx="7818120" cy="1135800"/>
          </a:xfrm>
          <a:prstGeom prst="roundRect">
            <a:avLst>
              <a:gd name="adj" fmla="val 6996"/>
            </a:avLst>
          </a:prstGeom>
          <a:solidFill>
            <a:srgbClr val="f9f9ff"/>
          </a:solidFill>
          <a:ln w="2286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13"/>
          <p:cNvSpPr/>
          <p:nvPr/>
        </p:nvSpPr>
        <p:spPr>
          <a:xfrm>
            <a:off x="6171840" y="5020560"/>
            <a:ext cx="756720" cy="1090080"/>
          </a:xfrm>
          <a:prstGeom prst="roundRect">
            <a:avLst>
              <a:gd name="adj" fmla="val 6878"/>
            </a:avLst>
          </a:prstGeom>
          <a:solidFill>
            <a:srgbClr val="d2dd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4"/>
          <p:cNvSpPr/>
          <p:nvPr/>
        </p:nvSpPr>
        <p:spPr>
          <a:xfrm>
            <a:off x="6404760" y="5388480"/>
            <a:ext cx="2833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404155"/>
                </a:solidFill>
                <a:latin typeface="Alexandria"/>
                <a:ea typeface="Alexandria"/>
              </a:rPr>
              <a:t>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5"/>
          <p:cNvSpPr/>
          <p:nvPr/>
        </p:nvSpPr>
        <p:spPr>
          <a:xfrm>
            <a:off x="7118640" y="5209560"/>
            <a:ext cx="36475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404155"/>
                </a:solidFill>
                <a:latin typeface="Alexandria"/>
                <a:ea typeface="Alexandria"/>
              </a:rPr>
              <a:t>Réformes du Marché du Travail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6"/>
          <p:cNvSpPr/>
          <p:nvPr/>
        </p:nvSpPr>
        <p:spPr>
          <a:xfrm>
            <a:off x="7118640" y="5619240"/>
            <a:ext cx="66362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404155"/>
                </a:solidFill>
                <a:latin typeface="Nobile"/>
                <a:ea typeface="Nobile"/>
              </a:rPr>
              <a:t>Améliorer la flexibilité et la sécurité de l'emploi.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7"/>
          <p:cNvSpPr/>
          <p:nvPr/>
        </p:nvSpPr>
        <p:spPr>
          <a:xfrm>
            <a:off x="6149160" y="6323400"/>
            <a:ext cx="7818120" cy="1135800"/>
          </a:xfrm>
          <a:prstGeom prst="roundRect">
            <a:avLst>
              <a:gd name="adj" fmla="val 6996"/>
            </a:avLst>
          </a:prstGeom>
          <a:solidFill>
            <a:srgbClr val="f9f9ff"/>
          </a:solidFill>
          <a:ln w="2286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8"/>
          <p:cNvSpPr/>
          <p:nvPr/>
        </p:nvSpPr>
        <p:spPr>
          <a:xfrm>
            <a:off x="6171840" y="6346440"/>
            <a:ext cx="756720" cy="1090080"/>
          </a:xfrm>
          <a:prstGeom prst="roundRect">
            <a:avLst>
              <a:gd name="adj" fmla="val 6878"/>
            </a:avLst>
          </a:prstGeom>
          <a:solidFill>
            <a:srgbClr val="d2dd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19"/>
          <p:cNvSpPr/>
          <p:nvPr/>
        </p:nvSpPr>
        <p:spPr>
          <a:xfrm>
            <a:off x="6404760" y="6714360"/>
            <a:ext cx="283320" cy="35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404155"/>
                </a:solidFill>
                <a:latin typeface="Alexandria"/>
                <a:ea typeface="Alexandria"/>
              </a:rPr>
              <a:t>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0"/>
          <p:cNvSpPr/>
          <p:nvPr/>
        </p:nvSpPr>
        <p:spPr>
          <a:xfrm>
            <a:off x="7118640" y="6535800"/>
            <a:ext cx="284400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404155"/>
                </a:solidFill>
                <a:latin typeface="Alexandria"/>
                <a:ea typeface="Alexandria"/>
              </a:rPr>
              <a:t>Régulation des Secteurs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1"/>
          <p:cNvSpPr/>
          <p:nvPr/>
        </p:nvSpPr>
        <p:spPr>
          <a:xfrm>
            <a:off x="7118640" y="6945120"/>
            <a:ext cx="66362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404155"/>
                </a:solidFill>
                <a:latin typeface="Nobile"/>
                <a:ea typeface="Nobile"/>
              </a:rPr>
              <a:t>Assurer une concurrence saine et l'efficacité des marchés.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" name="" descr=""/>
          <p:cNvPicPr/>
          <p:nvPr/>
        </p:nvPicPr>
        <p:blipFill>
          <a:blip r:embed="rId2"/>
          <a:stretch/>
        </p:blipFill>
        <p:spPr>
          <a:xfrm>
            <a:off x="12573000" y="7772400"/>
            <a:ext cx="204732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73" name="Text 0"/>
          <p:cNvSpPr/>
          <p:nvPr/>
        </p:nvSpPr>
        <p:spPr>
          <a:xfrm>
            <a:off x="556200" y="706680"/>
            <a:ext cx="8031240" cy="79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3101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rgbClr val="1b1b27"/>
                </a:solidFill>
                <a:latin typeface="Alexandria"/>
                <a:ea typeface="Alexandria"/>
              </a:rPr>
              <a:t>Impact des Politiques sur l'Environnement des Entreprises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" name="Image 1" descr="preencoded.png"/>
          <p:cNvPicPr/>
          <p:nvPr/>
        </p:nvPicPr>
        <p:blipFill>
          <a:blip r:embed="rId2"/>
          <a:stretch/>
        </p:blipFill>
        <p:spPr>
          <a:xfrm>
            <a:off x="556200" y="1917720"/>
            <a:ext cx="793800" cy="1232640"/>
          </a:xfrm>
          <a:prstGeom prst="rect">
            <a:avLst/>
          </a:prstGeom>
          <a:ln w="0">
            <a:noFill/>
          </a:ln>
        </p:spPr>
      </p:pic>
      <p:sp>
        <p:nvSpPr>
          <p:cNvPr id="75" name="Text 1"/>
          <p:cNvSpPr/>
          <p:nvPr/>
        </p:nvSpPr>
        <p:spPr>
          <a:xfrm>
            <a:off x="1509120" y="2076840"/>
            <a:ext cx="2604240" cy="24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404155"/>
                </a:solidFill>
                <a:latin typeface="Alexandria"/>
                <a:ea typeface="Alexandria"/>
              </a:rPr>
              <a:t>Ménages (Consommation)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1509120" y="2483640"/>
            <a:ext cx="2868120" cy="5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04155"/>
                </a:solidFill>
                <a:latin typeface="Nobile"/>
                <a:ea typeface="Nobile"/>
              </a:rPr>
              <a:t>Cible des politiques stimulant la demande par la consommation.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Image 2" descr="preencoded.png"/>
          <p:cNvPicPr/>
          <p:nvPr/>
        </p:nvPicPr>
        <p:blipFill>
          <a:blip r:embed="rId3"/>
          <a:stretch/>
        </p:blipFill>
        <p:spPr>
          <a:xfrm>
            <a:off x="556200" y="3151080"/>
            <a:ext cx="793800" cy="1232640"/>
          </a:xfrm>
          <a:prstGeom prst="rect">
            <a:avLst/>
          </a:prstGeom>
          <a:ln w="0">
            <a:noFill/>
          </a:ln>
        </p:spPr>
      </p:pic>
      <p:sp>
        <p:nvSpPr>
          <p:cNvPr id="78" name="Text 3"/>
          <p:cNvSpPr/>
          <p:nvPr/>
        </p:nvSpPr>
        <p:spPr>
          <a:xfrm>
            <a:off x="1509120" y="3310200"/>
            <a:ext cx="2762280" cy="24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404155"/>
                </a:solidFill>
                <a:latin typeface="Alexandria"/>
                <a:ea typeface="Alexandria"/>
              </a:rPr>
              <a:t>Entreprises (Investissement)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4"/>
          <p:cNvSpPr/>
          <p:nvPr/>
        </p:nvSpPr>
        <p:spPr>
          <a:xfrm>
            <a:off x="1509120" y="3717000"/>
            <a:ext cx="2868120" cy="5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04155"/>
                </a:solidFill>
                <a:latin typeface="Nobile"/>
                <a:ea typeface="Nobile"/>
              </a:rPr>
              <a:t>Cible pour l'investissement et la production.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5"/>
          <p:cNvSpPr/>
          <p:nvPr/>
        </p:nvSpPr>
        <p:spPr>
          <a:xfrm>
            <a:off x="556200" y="4563360"/>
            <a:ext cx="3821400" cy="76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04155"/>
                </a:solidFill>
                <a:latin typeface="Nobile"/>
                <a:ea typeface="Nobile"/>
              </a:rPr>
              <a:t>Une </a:t>
            </a:r>
            <a:r>
              <a:rPr b="0" lang="en-US" sz="1250" spc="-1" strike="noStrike">
                <a:solidFill>
                  <a:srgbClr val="1b54da"/>
                </a:solidFill>
                <a:latin typeface="Nobile"/>
                <a:ea typeface="Nobile"/>
              </a:rPr>
              <a:t>politique de relance</a:t>
            </a:r>
            <a:r>
              <a:rPr b="0" lang="en-US" sz="1250" spc="-1" strike="noStrike">
                <a:solidFill>
                  <a:srgbClr val="404155"/>
                </a:solidFill>
                <a:latin typeface="Nobile"/>
                <a:ea typeface="Nobile"/>
              </a:rPr>
              <a:t> est une action étatique pour stimuler l'activité économique.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6"/>
          <p:cNvSpPr/>
          <p:nvPr/>
        </p:nvSpPr>
        <p:spPr>
          <a:xfrm>
            <a:off x="4773600" y="1917720"/>
            <a:ext cx="3821400" cy="1787040"/>
          </a:xfrm>
          <a:prstGeom prst="roundRect">
            <a:avLst>
              <a:gd name="adj" fmla="val 6138"/>
            </a:avLst>
          </a:prstGeom>
          <a:solidFill>
            <a:srgbClr val="f9f9ff"/>
          </a:solidFill>
          <a:ln w="2286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7"/>
          <p:cNvSpPr/>
          <p:nvPr/>
        </p:nvSpPr>
        <p:spPr>
          <a:xfrm>
            <a:off x="4750560" y="1917720"/>
            <a:ext cx="90720" cy="1787040"/>
          </a:xfrm>
          <a:prstGeom prst="roundRect">
            <a:avLst>
              <a:gd name="adj" fmla="val 72982"/>
            </a:avLst>
          </a:prstGeom>
          <a:solidFill>
            <a:srgbClr val="1b5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8"/>
          <p:cNvSpPr/>
          <p:nvPr/>
        </p:nvSpPr>
        <p:spPr>
          <a:xfrm>
            <a:off x="5023800" y="2099520"/>
            <a:ext cx="1985400" cy="24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404155"/>
                </a:solidFill>
                <a:latin typeface="Alexandria"/>
                <a:ea typeface="Alexandria"/>
              </a:rPr>
              <a:t>Politiques de l'Offre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9"/>
          <p:cNvSpPr/>
          <p:nvPr/>
        </p:nvSpPr>
        <p:spPr>
          <a:xfrm>
            <a:off x="5023800" y="2506680"/>
            <a:ext cx="3389400" cy="101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04155"/>
                </a:solidFill>
                <a:latin typeface="Nobile"/>
                <a:ea typeface="Nobile"/>
              </a:rPr>
              <a:t>Baisse des impôts pour augmenter les marges des entreprises, favorisant l'investissement et la production. </a:t>
            </a:r>
            <a:r>
              <a:rPr b="0" lang="en-US" sz="1250" spc="-1" strike="noStrike">
                <a:solidFill>
                  <a:srgbClr val="1b54da"/>
                </a:solidFill>
                <a:latin typeface="Nobile"/>
                <a:ea typeface="Nobile"/>
              </a:rPr>
              <a:t>Ex: Baisse de l'impôt sur les sociétés.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0"/>
          <p:cNvSpPr/>
          <p:nvPr/>
        </p:nvSpPr>
        <p:spPr>
          <a:xfrm>
            <a:off x="4773600" y="3864240"/>
            <a:ext cx="3821400" cy="1787040"/>
          </a:xfrm>
          <a:prstGeom prst="roundRect">
            <a:avLst>
              <a:gd name="adj" fmla="val 6138"/>
            </a:avLst>
          </a:prstGeom>
          <a:solidFill>
            <a:srgbClr val="f9f9ff"/>
          </a:solidFill>
          <a:ln w="2286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1"/>
          <p:cNvSpPr/>
          <p:nvPr/>
        </p:nvSpPr>
        <p:spPr>
          <a:xfrm>
            <a:off x="4750560" y="3864240"/>
            <a:ext cx="90720" cy="1787040"/>
          </a:xfrm>
          <a:prstGeom prst="roundRect">
            <a:avLst>
              <a:gd name="adj" fmla="val 72982"/>
            </a:avLst>
          </a:prstGeom>
          <a:solidFill>
            <a:srgbClr val="1b5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5023800" y="4046040"/>
            <a:ext cx="2549160" cy="24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404155"/>
                </a:solidFill>
                <a:latin typeface="Alexandria"/>
                <a:ea typeface="Alexandria"/>
              </a:rPr>
              <a:t>Politiques de la Demande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13"/>
          <p:cNvSpPr/>
          <p:nvPr/>
        </p:nvSpPr>
        <p:spPr>
          <a:xfrm>
            <a:off x="5023800" y="4453200"/>
            <a:ext cx="3389400" cy="101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04155"/>
                </a:solidFill>
                <a:latin typeface="Nobile"/>
                <a:ea typeface="Nobile"/>
              </a:rPr>
              <a:t>Baisse des impôts pour les ménages ou augmentation des dépenses publiques pour stimuler la consommation et la demande. </a:t>
            </a:r>
            <a:r>
              <a:rPr b="0" lang="en-US" sz="1250" spc="-1" strike="noStrike">
                <a:solidFill>
                  <a:srgbClr val="1b54da"/>
                </a:solidFill>
                <a:latin typeface="Nobile"/>
                <a:ea typeface="Nobile"/>
              </a:rPr>
              <a:t>Ex: Subventions à la consommation.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14"/>
          <p:cNvSpPr/>
          <p:nvPr/>
        </p:nvSpPr>
        <p:spPr>
          <a:xfrm>
            <a:off x="4773600" y="5811120"/>
            <a:ext cx="3821400" cy="1532520"/>
          </a:xfrm>
          <a:prstGeom prst="roundRect">
            <a:avLst>
              <a:gd name="adj" fmla="val 7156"/>
            </a:avLst>
          </a:prstGeom>
          <a:solidFill>
            <a:srgbClr val="f9f9ff"/>
          </a:solidFill>
          <a:ln w="2286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5"/>
          <p:cNvSpPr/>
          <p:nvPr/>
        </p:nvSpPr>
        <p:spPr>
          <a:xfrm>
            <a:off x="4750560" y="5811120"/>
            <a:ext cx="90720" cy="1532520"/>
          </a:xfrm>
          <a:prstGeom prst="roundRect">
            <a:avLst>
              <a:gd name="adj" fmla="val 72982"/>
            </a:avLst>
          </a:prstGeom>
          <a:solidFill>
            <a:srgbClr val="1b5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5023800" y="5992560"/>
            <a:ext cx="2764440" cy="24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195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404155"/>
                </a:solidFill>
                <a:latin typeface="Alexandria"/>
                <a:ea typeface="Alexandria"/>
              </a:rPr>
              <a:t>Contraintes et Opportunités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7"/>
          <p:cNvSpPr/>
          <p:nvPr/>
        </p:nvSpPr>
        <p:spPr>
          <a:xfrm>
            <a:off x="5023800" y="6399720"/>
            <a:ext cx="3389400" cy="76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001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404155"/>
                </a:solidFill>
                <a:latin typeface="Nobile"/>
                <a:ea typeface="Nobile"/>
              </a:rPr>
              <a:t>Les politiques environnementales et de formation peuvent imposer des coûts, mais préparent l'économie à long terme.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94" name="Text 0"/>
          <p:cNvSpPr/>
          <p:nvPr/>
        </p:nvSpPr>
        <p:spPr>
          <a:xfrm>
            <a:off x="6280200" y="971640"/>
            <a:ext cx="75088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450"/>
              </a:lnSpc>
              <a:tabLst>
                <a:tab algn="l" pos="0"/>
              </a:tabLst>
            </a:pPr>
            <a:r>
              <a:rPr b="0" lang="en-US" sz="3550" spc="-1" strike="noStrike">
                <a:solidFill>
                  <a:srgbClr val="1b1b27"/>
                </a:solidFill>
                <a:latin typeface="Alexandria"/>
                <a:ea typeface="Alexandria"/>
              </a:rPr>
              <a:t>Limites de l'Intervention Étatique</a:t>
            </a:r>
            <a:endParaRPr b="0" lang="en-US" sz="3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280200" y="1878840"/>
            <a:ext cx="755568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404155"/>
                </a:solidFill>
                <a:latin typeface="Nobile"/>
                <a:ea typeface="Nobile"/>
              </a:rPr>
              <a:t>L'État doit naviguer entre les impératifs nationaux et les réalités globales.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2"/>
          <p:cNvSpPr/>
          <p:nvPr/>
        </p:nvSpPr>
        <p:spPr>
          <a:xfrm>
            <a:off x="6280200" y="2859840"/>
            <a:ext cx="7555680" cy="4397400"/>
          </a:xfrm>
          <a:prstGeom prst="roundRect">
            <a:avLst>
              <a:gd name="adj" fmla="val 2166"/>
            </a:avLst>
          </a:prstGeom>
          <a:solidFill>
            <a:srgbClr val="d2ddf9"/>
          </a:solidFill>
          <a:ln w="762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3"/>
          <p:cNvSpPr/>
          <p:nvPr/>
        </p:nvSpPr>
        <p:spPr>
          <a:xfrm>
            <a:off x="6287760" y="2867400"/>
            <a:ext cx="7540560" cy="2009160"/>
          </a:xfrm>
          <a:prstGeom prst="roundRect">
            <a:avLst>
              <a:gd name="adj" fmla="val 4740"/>
            </a:avLst>
          </a:prstGeom>
          <a:solidFill>
            <a:srgbClr val="d2dd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"/>
          <p:cNvSpPr/>
          <p:nvPr/>
        </p:nvSpPr>
        <p:spPr>
          <a:xfrm>
            <a:off x="6514560" y="3094200"/>
            <a:ext cx="3402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404155"/>
                </a:solidFill>
                <a:latin typeface="Alexandria"/>
                <a:ea typeface="Alexandria"/>
              </a:rPr>
              <a:t>Contraintes Budgétaires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6514560" y="3584520"/>
            <a:ext cx="708696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404155"/>
                </a:solidFill>
                <a:latin typeface="Nobile"/>
                <a:ea typeface="Nobile"/>
              </a:rPr>
              <a:t>Déficit public et dette limitent la capacité d'intervention. Un objectif de 5% du PIB en 2025 illustre cette pression.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6287760" y="4877280"/>
            <a:ext cx="7540560" cy="2372040"/>
          </a:xfrm>
          <a:prstGeom prst="rect">
            <a:avLst/>
          </a:prstGeom>
          <a:solidFill>
            <a:srgbClr val="d2ddf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7"/>
          <p:cNvSpPr/>
          <p:nvPr/>
        </p:nvSpPr>
        <p:spPr>
          <a:xfrm>
            <a:off x="6287760" y="4877280"/>
            <a:ext cx="7540560" cy="29880"/>
          </a:xfrm>
          <a:prstGeom prst="roundRect">
            <a:avLst>
              <a:gd name="adj" fmla="val 312558"/>
            </a:avLst>
          </a:prstGeom>
          <a:solidFill>
            <a:srgbClr val="b8c3d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3400" bIns="-234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9774720" y="4609080"/>
            <a:ext cx="566280" cy="566280"/>
          </a:xfrm>
          <a:prstGeom prst="roundRect">
            <a:avLst>
              <a:gd name="adj" fmla="val 16803"/>
            </a:avLst>
          </a:prstGeom>
          <a:solidFill>
            <a:srgbClr val="f9f9ff"/>
          </a:solidFill>
          <a:ln w="30480">
            <a:solidFill>
              <a:srgbClr val="b8c3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Image 1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916560" y="4750920"/>
            <a:ext cx="282600" cy="282600"/>
          </a:xfrm>
          <a:prstGeom prst="rect">
            <a:avLst/>
          </a:prstGeom>
          <a:ln w="0">
            <a:noFill/>
          </a:ln>
        </p:spPr>
      </p:pic>
      <p:sp>
        <p:nvSpPr>
          <p:cNvPr id="104" name="Text 9"/>
          <p:cNvSpPr/>
          <p:nvPr/>
        </p:nvSpPr>
        <p:spPr>
          <a:xfrm>
            <a:off x="6514560" y="5444280"/>
            <a:ext cx="45608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404155"/>
                </a:solidFill>
                <a:latin typeface="Alexandria"/>
                <a:ea typeface="Alexandria"/>
              </a:rPr>
              <a:t>Contraintes de la Mondialisation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6514560" y="5934960"/>
            <a:ext cx="708696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404155"/>
                </a:solidFill>
                <a:latin typeface="Nobile"/>
                <a:ea typeface="Nobile"/>
              </a:rPr>
              <a:t>Les politiques nationales doivent s'adapter aux décisions supranationales (ex: BCE dans la zone euro) et aux interdépendances mondiales.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" descr=""/>
          <p:cNvPicPr/>
          <p:nvPr/>
        </p:nvPicPr>
        <p:blipFill>
          <a:blip r:embed="rId4"/>
          <a:stretch/>
        </p:blipFill>
        <p:spPr>
          <a:xfrm>
            <a:off x="12573000" y="7772400"/>
            <a:ext cx="204732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2025-11-28T09:06:25Z</dcterms:created>
  <dc:creator/>
  <dc:description/>
  <dc:language>en-US</dc:language>
  <cp:lastModifiedBy/>
  <dcterms:modified xsi:type="dcterms:W3CDTF">2025-12-05T08:46:09Z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