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_rels/presentation.xml.rels" ContentType="application/vnd.openxmlformats-package.relationships+xml"/>
  <Override PartName="/ppt/media/image11.png" ContentType="image/png"/>
  <Override PartName="/ppt/media/image2.png" ContentType="image/png"/>
  <Override PartName="/ppt/media/image15.svg" ContentType="image/svg"/>
  <Override PartName="/ppt/media/image14.png" ContentType="image/png"/>
  <Override PartName="/ppt/media/image7.svg" ContentType="image/svg"/>
  <Override PartName="/ppt/media/image5.svg" ContentType="image/svg"/>
  <Override PartName="/ppt/media/image8.png" ContentType="image/png"/>
  <Override PartName="/ppt/media/image12.png" ContentType="image/png"/>
  <Override PartName="/ppt/media/image3.png" ContentType="image/png"/>
  <Override PartName="/ppt/media/image6.png" ContentType="image/png"/>
  <Override PartName="/ppt/media/image1.png" ContentType="image/png"/>
  <Override PartName="/ppt/media/image10.png" ContentType="image/png"/>
  <Override PartName="/ppt/media/image9.png" ContentType="image/png"/>
  <Override PartName="/ppt/media/image13.png" ContentType="image/png"/>
  <Override PartName="/ppt/media/image4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move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BFDA2E5-9B3C-4A3D-AF65-867A088956D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8B7840A-E2DD-4038-B08B-722D7DEFE33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97C36F-5D9C-4F88-8E23-CD6795A1EFB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EAD7F1-2B95-477F-BE05-F51ECD229D6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F03459-47C4-44F5-9DC0-9FB849DC336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BA168D-A80D-446E-AFCE-63EA2620C32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5c73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9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5c73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9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5c73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9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5c73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9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5c73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9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the 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sv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32" name="Text 0"/>
          <p:cNvSpPr/>
          <p:nvPr/>
        </p:nvSpPr>
        <p:spPr>
          <a:xfrm>
            <a:off x="793800" y="2337120"/>
            <a:ext cx="7556040" cy="21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1b1b27"/>
                </a:solidFill>
                <a:latin typeface="Alexandria"/>
                <a:ea typeface="Alexandria"/>
              </a:rPr>
              <a:t>L'Intervention de l'État : Outils et Impacts Économiques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793800" y="4803840"/>
            <a:ext cx="75560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04155"/>
                </a:solidFill>
                <a:latin typeface="Nobile"/>
                <a:ea typeface="Nobile"/>
              </a:rPr>
              <a:t>Découvrez comment les politiques conjoncturelles et structurelles façonnent l'environnement des entreprises et des ménages, et les défis auxquels l'État fait face.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35" name="Text 0"/>
          <p:cNvSpPr/>
          <p:nvPr/>
        </p:nvSpPr>
        <p:spPr>
          <a:xfrm>
            <a:off x="6242400" y="767880"/>
            <a:ext cx="7631640" cy="10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249"/>
              </a:lnSpc>
              <a:tabLst>
                <a:tab algn="l" pos="0"/>
              </a:tabLst>
            </a:pPr>
            <a:r>
              <a:rPr b="0" lang="en-US" sz="3400" spc="-1" strike="noStrike">
                <a:solidFill>
                  <a:srgbClr val="1b1b27"/>
                </a:solidFill>
                <a:latin typeface="Alexandria"/>
                <a:ea typeface="Alexandria"/>
              </a:rPr>
              <a:t>Politiques Conjoncturelles : Agir sur le Court Terme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6242400" y="2171880"/>
            <a:ext cx="7631640" cy="2536560"/>
          </a:xfrm>
          <a:prstGeom prst="roundRect">
            <a:avLst>
              <a:gd name="adj" fmla="val 3577"/>
            </a:avLst>
          </a:prstGeom>
          <a:solidFill>
            <a:srgbClr val="d2ddf9"/>
          </a:solidFill>
          <a:ln w="7620">
            <a:solidFill>
              <a:srgbClr val="b8c3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6465960" y="2395440"/>
            <a:ext cx="647640" cy="647640"/>
          </a:xfrm>
          <a:prstGeom prst="roundRect">
            <a:avLst>
              <a:gd name="adj" fmla="val 14108459"/>
            </a:avLst>
          </a:prstGeom>
          <a:solidFill>
            <a:srgbClr val="1b5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644160" y="2573640"/>
            <a:ext cx="291240" cy="291240"/>
          </a:xfrm>
          <a:prstGeom prst="rect">
            <a:avLst/>
          </a:prstGeom>
          <a:ln w="0">
            <a:noFill/>
          </a:ln>
        </p:spPr>
      </p:pic>
      <p:sp>
        <p:nvSpPr>
          <p:cNvPr id="39" name="Text 3"/>
          <p:cNvSpPr/>
          <p:nvPr/>
        </p:nvSpPr>
        <p:spPr>
          <a:xfrm>
            <a:off x="6465960" y="3259440"/>
            <a:ext cx="3332880" cy="4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149"/>
              </a:lnSpc>
              <a:tabLst>
                <a:tab algn="l" pos="0"/>
              </a:tabLst>
            </a:pPr>
            <a:r>
              <a:rPr b="0" lang="en-US" sz="2550" spc="-1" strike="noStrike">
                <a:solidFill>
                  <a:srgbClr val="404155"/>
                </a:solidFill>
                <a:latin typeface="Alexandria"/>
                <a:ea typeface="Alexandria"/>
              </a:rPr>
              <a:t>Politique Budgétaire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6465960" y="3794040"/>
            <a:ext cx="718452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404155"/>
                </a:solidFill>
                <a:latin typeface="Nobile"/>
                <a:ea typeface="Nobile"/>
              </a:rPr>
              <a:t>L'État utilise son budget pour influencer l'économie via les dépenses (investissements publics, subventions) et les recettes (impôts, taxes).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5"/>
          <p:cNvSpPr/>
          <p:nvPr/>
        </p:nvSpPr>
        <p:spPr>
          <a:xfrm>
            <a:off x="6242400" y="4924800"/>
            <a:ext cx="7631640" cy="2536560"/>
          </a:xfrm>
          <a:prstGeom prst="roundRect">
            <a:avLst>
              <a:gd name="adj" fmla="val 3577"/>
            </a:avLst>
          </a:prstGeom>
          <a:solidFill>
            <a:srgbClr val="d2ddf9"/>
          </a:solidFill>
          <a:ln w="7620">
            <a:solidFill>
              <a:srgbClr val="b8c3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6"/>
          <p:cNvSpPr/>
          <p:nvPr/>
        </p:nvSpPr>
        <p:spPr>
          <a:xfrm>
            <a:off x="6465960" y="5148360"/>
            <a:ext cx="647640" cy="647640"/>
          </a:xfrm>
          <a:prstGeom prst="roundRect">
            <a:avLst>
              <a:gd name="adj" fmla="val 14108459"/>
            </a:avLst>
          </a:prstGeom>
          <a:solidFill>
            <a:srgbClr val="1b5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644160" y="5326560"/>
            <a:ext cx="291240" cy="291240"/>
          </a:xfrm>
          <a:prstGeom prst="rect">
            <a:avLst/>
          </a:prstGeom>
          <a:ln w="0">
            <a:noFill/>
          </a:ln>
        </p:spPr>
      </p:pic>
      <p:sp>
        <p:nvSpPr>
          <p:cNvPr id="44" name="Text 7"/>
          <p:cNvSpPr/>
          <p:nvPr/>
        </p:nvSpPr>
        <p:spPr>
          <a:xfrm>
            <a:off x="6465960" y="6012360"/>
            <a:ext cx="3240000" cy="4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149"/>
              </a:lnSpc>
              <a:tabLst>
                <a:tab algn="l" pos="0"/>
              </a:tabLst>
            </a:pPr>
            <a:r>
              <a:rPr b="0" lang="en-US" sz="2550" spc="-1" strike="noStrike">
                <a:solidFill>
                  <a:srgbClr val="404155"/>
                </a:solidFill>
                <a:latin typeface="Alexandria"/>
                <a:ea typeface="Alexandria"/>
              </a:rPr>
              <a:t>Politique Monétaire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6465960" y="6546960"/>
            <a:ext cx="718452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404155"/>
                </a:solidFill>
                <a:latin typeface="Nobile"/>
                <a:ea typeface="Nobile"/>
              </a:rPr>
              <a:t>La Banque Centrale agit sur les taux directeurs pour réguler la masse monétaire, impactant le crédit et l'investissement.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6"/>
          <a:stretch/>
        </p:blipFill>
        <p:spPr>
          <a:xfrm>
            <a:off x="12573000" y="7772400"/>
            <a:ext cx="2047680" cy="45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48" name="Text 0"/>
          <p:cNvSpPr/>
          <p:nvPr/>
        </p:nvSpPr>
        <p:spPr>
          <a:xfrm>
            <a:off x="6149160" y="769320"/>
            <a:ext cx="777528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699"/>
              </a:lnSpc>
              <a:tabLst>
                <a:tab algn="l" pos="0"/>
              </a:tabLst>
            </a:pPr>
            <a:r>
              <a:rPr b="0" lang="en-US" sz="2950" spc="-1" strike="noStrike">
                <a:solidFill>
                  <a:srgbClr val="1b1b27"/>
                </a:solidFill>
                <a:latin typeface="Alexandria"/>
                <a:ea typeface="Alexandria"/>
              </a:rPr>
              <a:t>Politiques Structurelles : Préparer l'Avenir</a:t>
            </a:r>
            <a:endParaRPr b="0" lang="en-US" sz="2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6149160" y="1526760"/>
            <a:ext cx="7818480" cy="6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04155"/>
                </a:solidFill>
                <a:latin typeface="Nobile"/>
                <a:ea typeface="Nobile"/>
              </a:rPr>
              <a:t>Ces réformes de long terme visent à transformer durablement le système économique. Elles sont essentielles pour la croissance future.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6149160" y="2345400"/>
            <a:ext cx="7818480" cy="1136160"/>
          </a:xfrm>
          <a:prstGeom prst="roundRect">
            <a:avLst>
              <a:gd name="adj" fmla="val 6996"/>
            </a:avLst>
          </a:prstGeom>
          <a:solidFill>
            <a:srgbClr val="f9f9ff"/>
          </a:solidFill>
          <a:ln w="22860">
            <a:solidFill>
              <a:srgbClr val="b8c3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6171840" y="2368440"/>
            <a:ext cx="757080" cy="1090440"/>
          </a:xfrm>
          <a:prstGeom prst="roundRect">
            <a:avLst>
              <a:gd name="adj" fmla="val 6878"/>
            </a:avLst>
          </a:prstGeom>
          <a:solidFill>
            <a:srgbClr val="d2dd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6404760" y="2736360"/>
            <a:ext cx="28368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04155"/>
                </a:solidFill>
                <a:latin typeface="Alexandria"/>
                <a:ea typeface="Alexandria"/>
              </a:rPr>
              <a:t>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7118640" y="2557800"/>
            <a:ext cx="30830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404155"/>
                </a:solidFill>
                <a:latin typeface="Alexandria"/>
                <a:ea typeface="Alexandria"/>
              </a:rPr>
              <a:t>Formation Professionnelle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7118640" y="2967120"/>
            <a:ext cx="66366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04155"/>
                </a:solidFill>
                <a:latin typeface="Nobile"/>
                <a:ea typeface="Nobile"/>
              </a:rPr>
              <a:t>Adapter les compétences de la main-d'œuvre aux besoins du marché.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6149160" y="3671640"/>
            <a:ext cx="7818480" cy="1136160"/>
          </a:xfrm>
          <a:prstGeom prst="roundRect">
            <a:avLst>
              <a:gd name="adj" fmla="val 6996"/>
            </a:avLst>
          </a:prstGeom>
          <a:solidFill>
            <a:srgbClr val="f9f9ff"/>
          </a:solidFill>
          <a:ln w="22860">
            <a:solidFill>
              <a:srgbClr val="b8c3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6171840" y="3694320"/>
            <a:ext cx="757080" cy="1090440"/>
          </a:xfrm>
          <a:prstGeom prst="roundRect">
            <a:avLst>
              <a:gd name="adj" fmla="val 6878"/>
            </a:avLst>
          </a:prstGeom>
          <a:solidFill>
            <a:srgbClr val="d2dd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6404760" y="4062240"/>
            <a:ext cx="28368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04155"/>
                </a:solidFill>
                <a:latin typeface="Alexandria"/>
                <a:ea typeface="Alexandria"/>
              </a:rPr>
              <a:t>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7118640" y="3883680"/>
            <a:ext cx="352836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404155"/>
                </a:solidFill>
                <a:latin typeface="Alexandria"/>
                <a:ea typeface="Alexandria"/>
              </a:rPr>
              <a:t>Politiques Environnementales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7118640" y="4293000"/>
            <a:ext cx="66366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04155"/>
                </a:solidFill>
                <a:latin typeface="Nobile"/>
                <a:ea typeface="Nobile"/>
              </a:rPr>
              <a:t>Promouvoir une économie durable et respectueuse de l'environnement.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2"/>
          <p:cNvSpPr/>
          <p:nvPr/>
        </p:nvSpPr>
        <p:spPr>
          <a:xfrm>
            <a:off x="6149160" y="4997520"/>
            <a:ext cx="7818480" cy="1136160"/>
          </a:xfrm>
          <a:prstGeom prst="roundRect">
            <a:avLst>
              <a:gd name="adj" fmla="val 6996"/>
            </a:avLst>
          </a:prstGeom>
          <a:solidFill>
            <a:srgbClr val="f9f9ff"/>
          </a:solidFill>
          <a:ln w="22860">
            <a:solidFill>
              <a:srgbClr val="b8c3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3"/>
          <p:cNvSpPr/>
          <p:nvPr/>
        </p:nvSpPr>
        <p:spPr>
          <a:xfrm>
            <a:off x="6171840" y="5020560"/>
            <a:ext cx="757080" cy="1090440"/>
          </a:xfrm>
          <a:prstGeom prst="roundRect">
            <a:avLst>
              <a:gd name="adj" fmla="val 6878"/>
            </a:avLst>
          </a:prstGeom>
          <a:solidFill>
            <a:srgbClr val="d2dd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6404760" y="5388480"/>
            <a:ext cx="28368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04155"/>
                </a:solidFill>
                <a:latin typeface="Alexandria"/>
                <a:ea typeface="Alexandria"/>
              </a:rPr>
              <a:t>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7118640" y="5209560"/>
            <a:ext cx="36478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404155"/>
                </a:solidFill>
                <a:latin typeface="Alexandria"/>
                <a:ea typeface="Alexandria"/>
              </a:rPr>
              <a:t>Réformes du Marché du Travail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7118640" y="5619240"/>
            <a:ext cx="66366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04155"/>
                </a:solidFill>
                <a:latin typeface="Nobile"/>
                <a:ea typeface="Nobile"/>
              </a:rPr>
              <a:t>Améliorer la flexibilité et la sécurité de l'emploi.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7"/>
          <p:cNvSpPr/>
          <p:nvPr/>
        </p:nvSpPr>
        <p:spPr>
          <a:xfrm>
            <a:off x="6149160" y="6323400"/>
            <a:ext cx="7818480" cy="1136160"/>
          </a:xfrm>
          <a:prstGeom prst="roundRect">
            <a:avLst>
              <a:gd name="adj" fmla="val 6996"/>
            </a:avLst>
          </a:prstGeom>
          <a:solidFill>
            <a:srgbClr val="f9f9ff"/>
          </a:solidFill>
          <a:ln w="22860">
            <a:solidFill>
              <a:srgbClr val="b8c3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8"/>
          <p:cNvSpPr/>
          <p:nvPr/>
        </p:nvSpPr>
        <p:spPr>
          <a:xfrm>
            <a:off x="6171840" y="6346440"/>
            <a:ext cx="757080" cy="1090440"/>
          </a:xfrm>
          <a:prstGeom prst="roundRect">
            <a:avLst>
              <a:gd name="adj" fmla="val 6878"/>
            </a:avLst>
          </a:prstGeom>
          <a:solidFill>
            <a:srgbClr val="d2dd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6404760" y="6714360"/>
            <a:ext cx="28368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04155"/>
                </a:solidFill>
                <a:latin typeface="Alexandria"/>
                <a:ea typeface="Alexandria"/>
              </a:rPr>
              <a:t>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20"/>
          <p:cNvSpPr/>
          <p:nvPr/>
        </p:nvSpPr>
        <p:spPr>
          <a:xfrm>
            <a:off x="7118640" y="6535800"/>
            <a:ext cx="284436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404155"/>
                </a:solidFill>
                <a:latin typeface="Alexandria"/>
                <a:ea typeface="Alexandria"/>
              </a:rPr>
              <a:t>Régulation des Secteurs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21"/>
          <p:cNvSpPr/>
          <p:nvPr/>
        </p:nvSpPr>
        <p:spPr>
          <a:xfrm>
            <a:off x="7118640" y="6945120"/>
            <a:ext cx="66366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04155"/>
                </a:solidFill>
                <a:latin typeface="Nobile"/>
                <a:ea typeface="Nobile"/>
              </a:rPr>
              <a:t>Assurer une concurrence saine et l'efficacité des marchés.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12573000" y="7772400"/>
            <a:ext cx="2047680" cy="45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72" name="Text 0"/>
          <p:cNvSpPr/>
          <p:nvPr/>
        </p:nvSpPr>
        <p:spPr>
          <a:xfrm>
            <a:off x="556200" y="706680"/>
            <a:ext cx="803160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3101"/>
              </a:lnSpc>
              <a:tabLst>
                <a:tab algn="l" pos="0"/>
              </a:tabLst>
            </a:pPr>
            <a:r>
              <a:rPr b="0" lang="en-US" sz="2500" spc="-1" strike="noStrike">
                <a:solidFill>
                  <a:srgbClr val="1b1b27"/>
                </a:solidFill>
                <a:latin typeface="Alexandria"/>
                <a:ea typeface="Alexandria"/>
              </a:rPr>
              <a:t>Impact des Politiques sur l'Environnement des Entreprises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Image 1" descr="preencoded.png"/>
          <p:cNvPicPr/>
          <p:nvPr/>
        </p:nvPicPr>
        <p:blipFill>
          <a:blip r:embed="rId2"/>
          <a:stretch/>
        </p:blipFill>
        <p:spPr>
          <a:xfrm>
            <a:off x="556200" y="1917720"/>
            <a:ext cx="794160" cy="1233000"/>
          </a:xfrm>
          <a:prstGeom prst="rect">
            <a:avLst/>
          </a:prstGeom>
          <a:ln w="0">
            <a:noFill/>
          </a:ln>
        </p:spPr>
      </p:pic>
      <p:sp>
        <p:nvSpPr>
          <p:cNvPr id="74" name="Text 1"/>
          <p:cNvSpPr/>
          <p:nvPr/>
        </p:nvSpPr>
        <p:spPr>
          <a:xfrm>
            <a:off x="1509120" y="2076840"/>
            <a:ext cx="260460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404155"/>
                </a:solidFill>
                <a:latin typeface="Alexandria"/>
                <a:ea typeface="Alexandria"/>
              </a:rPr>
              <a:t>Ménages (Consommation)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1509120" y="2483640"/>
            <a:ext cx="2868480" cy="50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404155"/>
                </a:solidFill>
                <a:latin typeface="Nobile"/>
                <a:ea typeface="Nobile"/>
              </a:rPr>
              <a:t>Cible des politiques stimulant la demande par la consommation.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Image 2" descr="preencoded.png"/>
          <p:cNvPicPr/>
          <p:nvPr/>
        </p:nvPicPr>
        <p:blipFill>
          <a:blip r:embed="rId3"/>
          <a:stretch/>
        </p:blipFill>
        <p:spPr>
          <a:xfrm>
            <a:off x="556200" y="3151080"/>
            <a:ext cx="794160" cy="1233000"/>
          </a:xfrm>
          <a:prstGeom prst="rect">
            <a:avLst/>
          </a:prstGeom>
          <a:ln w="0">
            <a:noFill/>
          </a:ln>
        </p:spPr>
      </p:pic>
      <p:sp>
        <p:nvSpPr>
          <p:cNvPr id="77" name="Text 3"/>
          <p:cNvSpPr/>
          <p:nvPr/>
        </p:nvSpPr>
        <p:spPr>
          <a:xfrm>
            <a:off x="1509120" y="3310200"/>
            <a:ext cx="276264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404155"/>
                </a:solidFill>
                <a:latin typeface="Alexandria"/>
                <a:ea typeface="Alexandria"/>
              </a:rPr>
              <a:t>Entreprises (Investissement)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509120" y="3717000"/>
            <a:ext cx="2868480" cy="50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404155"/>
                </a:solidFill>
                <a:latin typeface="Nobile"/>
                <a:ea typeface="Nobile"/>
              </a:rPr>
              <a:t>Cible pour l'investissement et la production.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556200" y="4563360"/>
            <a:ext cx="3821760" cy="76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404155"/>
                </a:solidFill>
                <a:latin typeface="Nobile"/>
                <a:ea typeface="Nobile"/>
              </a:rPr>
              <a:t>Une </a:t>
            </a:r>
            <a:r>
              <a:rPr b="0" lang="en-US" sz="1250" spc="-1" strike="noStrike">
                <a:solidFill>
                  <a:srgbClr val="1b54da"/>
                </a:solidFill>
                <a:latin typeface="Nobile"/>
                <a:ea typeface="Nobile"/>
              </a:rPr>
              <a:t>politique de relance</a:t>
            </a:r>
            <a:r>
              <a:rPr b="0" lang="en-US" sz="1250" spc="-1" strike="noStrike">
                <a:solidFill>
                  <a:srgbClr val="404155"/>
                </a:solidFill>
                <a:latin typeface="Nobile"/>
                <a:ea typeface="Nobile"/>
              </a:rPr>
              <a:t> est une action étatique pour stimuler l'activité économique.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6"/>
          <p:cNvSpPr/>
          <p:nvPr/>
        </p:nvSpPr>
        <p:spPr>
          <a:xfrm>
            <a:off x="4773600" y="1917720"/>
            <a:ext cx="3821760" cy="1787400"/>
          </a:xfrm>
          <a:prstGeom prst="roundRect">
            <a:avLst>
              <a:gd name="adj" fmla="val 6138"/>
            </a:avLst>
          </a:prstGeom>
          <a:solidFill>
            <a:srgbClr val="f9f9ff"/>
          </a:solidFill>
          <a:ln w="22860">
            <a:solidFill>
              <a:srgbClr val="b8c3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7"/>
          <p:cNvSpPr/>
          <p:nvPr/>
        </p:nvSpPr>
        <p:spPr>
          <a:xfrm>
            <a:off x="4750560" y="1917720"/>
            <a:ext cx="91080" cy="1787400"/>
          </a:xfrm>
          <a:prstGeom prst="roundRect">
            <a:avLst>
              <a:gd name="adj" fmla="val 72982"/>
            </a:avLst>
          </a:prstGeom>
          <a:solidFill>
            <a:srgbClr val="1b5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5023800" y="2099520"/>
            <a:ext cx="198576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404155"/>
                </a:solidFill>
                <a:latin typeface="Alexandria"/>
                <a:ea typeface="Alexandria"/>
              </a:rPr>
              <a:t>Politiques de l'Offre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5023800" y="2506680"/>
            <a:ext cx="3389760" cy="101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404155"/>
                </a:solidFill>
                <a:latin typeface="Nobile"/>
                <a:ea typeface="Nobile"/>
              </a:rPr>
              <a:t>Baisse des impôts pour augmenter les marges des entreprises, favorisant l'investissement et la production. </a:t>
            </a:r>
            <a:r>
              <a:rPr b="0" lang="en-US" sz="1250" spc="-1" strike="noStrike">
                <a:solidFill>
                  <a:srgbClr val="1b54da"/>
                </a:solidFill>
                <a:latin typeface="Nobile"/>
                <a:ea typeface="Nobile"/>
              </a:rPr>
              <a:t>Ex: Baisse de l'impôt sur les sociétés.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0"/>
          <p:cNvSpPr/>
          <p:nvPr/>
        </p:nvSpPr>
        <p:spPr>
          <a:xfrm>
            <a:off x="4773600" y="3864240"/>
            <a:ext cx="3821760" cy="1787400"/>
          </a:xfrm>
          <a:prstGeom prst="roundRect">
            <a:avLst>
              <a:gd name="adj" fmla="val 6138"/>
            </a:avLst>
          </a:prstGeom>
          <a:solidFill>
            <a:srgbClr val="f9f9ff"/>
          </a:solidFill>
          <a:ln w="22860">
            <a:solidFill>
              <a:srgbClr val="b8c3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1"/>
          <p:cNvSpPr/>
          <p:nvPr/>
        </p:nvSpPr>
        <p:spPr>
          <a:xfrm>
            <a:off x="4750560" y="3864240"/>
            <a:ext cx="91080" cy="1787400"/>
          </a:xfrm>
          <a:prstGeom prst="roundRect">
            <a:avLst>
              <a:gd name="adj" fmla="val 72982"/>
            </a:avLst>
          </a:prstGeom>
          <a:solidFill>
            <a:srgbClr val="1b5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5023800" y="4046040"/>
            <a:ext cx="254952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404155"/>
                </a:solidFill>
                <a:latin typeface="Alexandria"/>
                <a:ea typeface="Alexandria"/>
              </a:rPr>
              <a:t>Politiques de la Demande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5023800" y="4453200"/>
            <a:ext cx="3389760" cy="101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404155"/>
                </a:solidFill>
                <a:latin typeface="Nobile"/>
                <a:ea typeface="Nobile"/>
              </a:rPr>
              <a:t>Baisse des impôts pour les ménages ou augmentation des dépenses publiques pour stimuler la consommation et la demande. </a:t>
            </a:r>
            <a:r>
              <a:rPr b="0" lang="en-US" sz="1250" spc="-1" strike="noStrike">
                <a:solidFill>
                  <a:srgbClr val="1b54da"/>
                </a:solidFill>
                <a:latin typeface="Nobile"/>
                <a:ea typeface="Nobile"/>
              </a:rPr>
              <a:t>Ex: Subventions à la consommation.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4"/>
          <p:cNvSpPr/>
          <p:nvPr/>
        </p:nvSpPr>
        <p:spPr>
          <a:xfrm>
            <a:off x="4773600" y="5811120"/>
            <a:ext cx="3821760" cy="1532880"/>
          </a:xfrm>
          <a:prstGeom prst="roundRect">
            <a:avLst>
              <a:gd name="adj" fmla="val 7156"/>
            </a:avLst>
          </a:prstGeom>
          <a:solidFill>
            <a:srgbClr val="f9f9ff"/>
          </a:solidFill>
          <a:ln w="22860">
            <a:solidFill>
              <a:srgbClr val="b8c3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5"/>
          <p:cNvSpPr/>
          <p:nvPr/>
        </p:nvSpPr>
        <p:spPr>
          <a:xfrm>
            <a:off x="4750560" y="5811120"/>
            <a:ext cx="91080" cy="1532880"/>
          </a:xfrm>
          <a:prstGeom prst="roundRect">
            <a:avLst>
              <a:gd name="adj" fmla="val 72982"/>
            </a:avLst>
          </a:prstGeom>
          <a:solidFill>
            <a:srgbClr val="1b5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6"/>
          <p:cNvSpPr/>
          <p:nvPr/>
        </p:nvSpPr>
        <p:spPr>
          <a:xfrm>
            <a:off x="5023800" y="5992560"/>
            <a:ext cx="276480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404155"/>
                </a:solidFill>
                <a:latin typeface="Alexandria"/>
                <a:ea typeface="Alexandria"/>
              </a:rPr>
              <a:t>Contraintes et Opportunités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5023800" y="6399720"/>
            <a:ext cx="3389760" cy="76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404155"/>
                </a:solidFill>
                <a:latin typeface="Nobile"/>
                <a:ea typeface="Nobile"/>
              </a:rPr>
              <a:t>Les politiques environnementales et de formation peuvent imposer des coûts, mais préparent l'économie à long terme.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93" name="Text 0"/>
          <p:cNvSpPr/>
          <p:nvPr/>
        </p:nvSpPr>
        <p:spPr>
          <a:xfrm>
            <a:off x="6280200" y="971640"/>
            <a:ext cx="750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450"/>
              </a:lnSpc>
              <a:tabLst>
                <a:tab algn="l" pos="0"/>
              </a:tabLst>
            </a:pPr>
            <a:r>
              <a:rPr b="0" lang="en-US" sz="3550" spc="-1" strike="noStrike">
                <a:solidFill>
                  <a:srgbClr val="1b1b27"/>
                </a:solidFill>
                <a:latin typeface="Alexandria"/>
                <a:ea typeface="Alexandria"/>
              </a:rPr>
              <a:t>Limites de l'Intervention Étatique</a:t>
            </a:r>
            <a:endParaRPr b="0" lang="en-US" sz="3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6280200" y="1878840"/>
            <a:ext cx="75560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04155"/>
                </a:solidFill>
                <a:latin typeface="Nobile"/>
                <a:ea typeface="Nobile"/>
              </a:rPr>
              <a:t>L'État doit naviguer entre les impératifs nationaux et les réalités globales.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6280200" y="2859840"/>
            <a:ext cx="7556040" cy="4397760"/>
          </a:xfrm>
          <a:prstGeom prst="roundRect">
            <a:avLst>
              <a:gd name="adj" fmla="val 2166"/>
            </a:avLst>
          </a:prstGeom>
          <a:solidFill>
            <a:srgbClr val="d2ddf9"/>
          </a:solidFill>
          <a:ln w="7620">
            <a:solidFill>
              <a:srgbClr val="b8c3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6287760" y="2867400"/>
            <a:ext cx="7540920" cy="2009520"/>
          </a:xfrm>
          <a:prstGeom prst="roundRect">
            <a:avLst>
              <a:gd name="adj" fmla="val 4740"/>
            </a:avLst>
          </a:prstGeom>
          <a:solidFill>
            <a:srgbClr val="d2dd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6514560" y="3094200"/>
            <a:ext cx="3403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04155"/>
                </a:solidFill>
                <a:latin typeface="Alexandria"/>
                <a:ea typeface="Alexandria"/>
              </a:rPr>
              <a:t>Contraintes Budgétaires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6514560" y="3584520"/>
            <a:ext cx="70873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04155"/>
                </a:solidFill>
                <a:latin typeface="Nobile"/>
                <a:ea typeface="Nobile"/>
              </a:rPr>
              <a:t>Déficit public et dette limitent la capacité d'intervention. Un objectif de 5% du PIB en 2025 illustre cette pression.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>
            <a:off x="6287760" y="4877280"/>
            <a:ext cx="7540920" cy="2372400"/>
          </a:xfrm>
          <a:prstGeom prst="rect">
            <a:avLst/>
          </a:prstGeom>
          <a:solidFill>
            <a:srgbClr val="d2dd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6287760" y="4877280"/>
            <a:ext cx="7540920" cy="3024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9774720" y="4609080"/>
            <a:ext cx="566640" cy="566640"/>
          </a:xfrm>
          <a:prstGeom prst="roundRect">
            <a:avLst>
              <a:gd name="adj" fmla="val 16803"/>
            </a:avLst>
          </a:prstGeom>
          <a:solidFill>
            <a:srgbClr val="f9f9ff"/>
          </a:solidFill>
          <a:ln w="30480">
            <a:solidFill>
              <a:srgbClr val="b8c3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916560" y="4750920"/>
            <a:ext cx="282960" cy="282960"/>
          </a:xfrm>
          <a:prstGeom prst="rect">
            <a:avLst/>
          </a:prstGeom>
          <a:ln w="0">
            <a:noFill/>
          </a:ln>
        </p:spPr>
      </p:pic>
      <p:sp>
        <p:nvSpPr>
          <p:cNvPr id="103" name="Text 9"/>
          <p:cNvSpPr/>
          <p:nvPr/>
        </p:nvSpPr>
        <p:spPr>
          <a:xfrm>
            <a:off x="6514560" y="5444280"/>
            <a:ext cx="45612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04155"/>
                </a:solidFill>
                <a:latin typeface="Alexandria"/>
                <a:ea typeface="Alexandria"/>
              </a:rPr>
              <a:t>Contraintes de la Mondialisation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6514560" y="5934960"/>
            <a:ext cx="708732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04155"/>
                </a:solidFill>
                <a:latin typeface="Nobile"/>
                <a:ea typeface="Nobile"/>
              </a:rPr>
              <a:t>Les politiques nationales doivent s'adapter aux décisions supranationales (ex: BCE dans la zone euro) et aux interdépendances mondiales.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4"/>
          <a:stretch/>
        </p:blipFill>
        <p:spPr>
          <a:xfrm>
            <a:off x="12573000" y="7772400"/>
            <a:ext cx="2047680" cy="45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2025-11-28T09:06:25Z</dcterms:created>
  <dc:creator/>
  <dc:description/>
  <dc:language>en-US</dc:language>
  <cp:lastModifiedBy/>
  <dcterms:modified xsi:type="dcterms:W3CDTF">2025-11-28T10:21:23Z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