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media/image11.svg" ContentType="image/svg"/>
  <Override PartName="/ppt/media/image10.png" ContentType="image/png"/>
  <Override PartName="/ppt/media/image1.png" ContentType="image/png"/>
  <Override PartName="/ppt/media/image2.png" ContentType="image/png"/>
  <Override PartName="/ppt/media/image9.svg" ContentType="image/svg"/>
  <Override PartName="/ppt/media/image16.png" ContentType="image/png"/>
  <Override PartName="/ppt/media/image7.png" ContentType="image/png"/>
  <Override PartName="/ppt/media/image13.svg" ContentType="image/svg"/>
  <Override PartName="/ppt/media/image4.svg" ContentType="image/svg"/>
  <Override PartName="/ppt/media/image14.png" ContentType="image/png"/>
  <Override PartName="/ppt/media/image5.png" ContentType="image/png"/>
  <Override PartName="/ppt/media/image15.svg" ContentType="image/svg"/>
  <Override PartName="/ppt/media/image6.svg" ContentType="image/svg"/>
  <Override PartName="/ppt/media/image17.png" ContentType="image/png"/>
  <Override PartName="/ppt/media/image8.png" ContentType="image/png"/>
  <Override PartName="/ppt/media/image1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notesMasterIdLst>
    <p:notesMasterId r:id="rId7"/>
  </p:notesMasterIdLst>
  <p:sldIdLst>
    <p:sldId id="256" r:id="rId8"/>
    <p:sldId id="257" r:id="rId9"/>
    <p:sldId id="258" r:id="rId10"/>
    <p:sldId id="259" r:id="rId11"/>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chemeClr val="dk1"/>
                </a:solidFill>
                <a:latin typeface="Calibri Light"/>
              </a:rPr>
              <a:t>Click to move the slide</a:t>
            </a:r>
            <a:endParaRPr b="0" lang="en-US" sz="4400" spc="-1" strike="noStrike">
              <a:solidFill>
                <a:schemeClr val="dk1"/>
              </a:solidFill>
              <a:latin typeface="Calibri Light"/>
            </a:endParaRP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2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2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1741190-19E7-4C08-9D8B-A05E225DF4D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685800" y="1143000"/>
            <a:ext cx="5486040" cy="3085920"/>
          </a:xfrm>
          <a:prstGeom prst="rect">
            <a:avLst/>
          </a:prstGeom>
          <a:ln w="0">
            <a:noFill/>
          </a:ln>
        </p:spPr>
      </p:sp>
      <p:sp>
        <p:nvSpPr>
          <p:cNvPr id="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CBCDC6D-BBC2-4AA8-82A6-24161F37AF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685800" y="1143000"/>
            <a:ext cx="5486040" cy="3085920"/>
          </a:xfrm>
          <a:prstGeom prst="rect">
            <a:avLst/>
          </a:prstGeom>
          <a:ln w="0">
            <a:noFill/>
          </a:ln>
        </p:spPr>
      </p:sp>
      <p:sp>
        <p:nvSpPr>
          <p:cNvPr id="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72C377C-7CEE-4AA7-8EF2-14417EAB5A5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685800" y="1143000"/>
            <a:ext cx="5486040" cy="3085920"/>
          </a:xfrm>
          <a:prstGeom prst="rect">
            <a:avLst/>
          </a:prstGeom>
          <a:ln w="0">
            <a:noFill/>
          </a:ln>
        </p:spPr>
      </p:sp>
      <p:sp>
        <p:nvSpPr>
          <p:cNvPr id="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003D100-DF8C-4C51-A836-2D8E023CB60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ldImg"/>
          </p:nvPr>
        </p:nvSpPr>
        <p:spPr>
          <a:xfrm>
            <a:off x="685800" y="1143000"/>
            <a:ext cx="5486040" cy="3085920"/>
          </a:xfrm>
          <a:prstGeom prst="rect">
            <a:avLst/>
          </a:prstGeom>
          <a:ln w="0">
            <a:noFill/>
          </a:ln>
        </p:spPr>
      </p:sp>
      <p:sp>
        <p:nvSpPr>
          <p:cNvPr id="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7732AAE-D910-4B77-85BD-A4DA56D1A71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30040" cy="8229240"/>
          </a:xfrm>
          <a:prstGeom prst="rect">
            <a:avLst/>
          </a:prstGeom>
          <a:solidFill>
            <a:srgbClr val="5c73e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 name="Shape 1"/>
          <p:cNvSpPr/>
          <p:nvPr/>
        </p:nvSpPr>
        <p:spPr>
          <a:xfrm>
            <a:off x="0" y="0"/>
            <a:ext cx="14630040" cy="8229240"/>
          </a:xfrm>
          <a:prstGeom prst="rect">
            <a:avLst/>
          </a:prstGeom>
          <a:solidFill>
            <a:srgbClr val="f9f9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 name="Image 0" descr="preencoded.png">
            <a:hlinkClick r:id="rId2"/>
          </p:cNvPr>
          <p:cNvPicPr/>
          <p:nvPr/>
        </p:nvPicPr>
        <p:blipFill>
          <a:blip r:embed="rId3"/>
          <a:stretch/>
        </p:blipFill>
        <p:spPr>
          <a:xfrm>
            <a:off x="12839040" y="7749720"/>
            <a:ext cx="1722240" cy="411120"/>
          </a:xfrm>
          <a:prstGeom prst="rect">
            <a:avLst/>
          </a:prstGeom>
          <a:ln w="0">
            <a:noFill/>
          </a:ln>
        </p:spPr>
      </p:pic>
      <p:sp>
        <p:nvSpPr>
          <p:cNvPr id="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a:t>
            </a:r>
            <a:r>
              <a:rPr b="0" lang="en-US" sz="4400" spc="-1" strike="noStrike">
                <a:solidFill>
                  <a:schemeClr val="dk1"/>
                </a:solidFill>
                <a:latin typeface="Calibri Light"/>
              </a:rPr>
              <a:t>format</a:t>
            </a:r>
            <a:endParaRPr b="0" lang="en-US" sz="4400" spc="-1" strike="noStrike">
              <a:solidFill>
                <a:schemeClr val="dk1"/>
              </a:solidFill>
              <a:latin typeface="Calibri Light"/>
            </a:endParaRPr>
          </a:p>
        </p:txBody>
      </p:sp>
      <p:sp>
        <p:nvSpPr>
          <p:cNvPr id="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Shape 0"/>
          <p:cNvSpPr/>
          <p:nvPr/>
        </p:nvSpPr>
        <p:spPr>
          <a:xfrm>
            <a:off x="0" y="0"/>
            <a:ext cx="14630040" cy="8229240"/>
          </a:xfrm>
          <a:prstGeom prst="rect">
            <a:avLst/>
          </a:prstGeom>
          <a:solidFill>
            <a:srgbClr val="5c73e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Shape 1"/>
          <p:cNvSpPr/>
          <p:nvPr/>
        </p:nvSpPr>
        <p:spPr>
          <a:xfrm>
            <a:off x="0" y="0"/>
            <a:ext cx="14630040" cy="8229240"/>
          </a:xfrm>
          <a:prstGeom prst="rect">
            <a:avLst/>
          </a:prstGeom>
          <a:solidFill>
            <a:srgbClr val="f9f9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 name="Image 0" descr="preencoded.png">
            <a:hlinkClick r:id="rId2"/>
          </p:cNvPr>
          <p:cNvPicPr/>
          <p:nvPr/>
        </p:nvPicPr>
        <p:blipFill>
          <a:blip r:embed="rId3"/>
          <a:stretch/>
        </p:blipFill>
        <p:spPr>
          <a:xfrm>
            <a:off x="12839040" y="7749720"/>
            <a:ext cx="1722240" cy="411120"/>
          </a:xfrm>
          <a:prstGeom prst="rect">
            <a:avLst/>
          </a:prstGeom>
          <a:ln w="0">
            <a:noFill/>
          </a:ln>
        </p:spPr>
      </p:pic>
      <p:sp>
        <p:nvSpPr>
          <p:cNvPr id="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Shape 0"/>
          <p:cNvSpPr/>
          <p:nvPr/>
        </p:nvSpPr>
        <p:spPr>
          <a:xfrm>
            <a:off x="0" y="0"/>
            <a:ext cx="14630040" cy="8229240"/>
          </a:xfrm>
          <a:prstGeom prst="rect">
            <a:avLst/>
          </a:prstGeom>
          <a:solidFill>
            <a:srgbClr val="5c73e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1"/>
          <p:cNvSpPr/>
          <p:nvPr/>
        </p:nvSpPr>
        <p:spPr>
          <a:xfrm>
            <a:off x="0" y="0"/>
            <a:ext cx="14630040" cy="8229240"/>
          </a:xfrm>
          <a:prstGeom prst="rect">
            <a:avLst/>
          </a:prstGeom>
          <a:solidFill>
            <a:srgbClr val="f9f9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 name="Image 0" descr="preencoded.png">
            <a:hlinkClick r:id="rId2"/>
          </p:cNvPr>
          <p:cNvPicPr/>
          <p:nvPr/>
        </p:nvPicPr>
        <p:blipFill>
          <a:blip r:embed="rId3"/>
          <a:stretch/>
        </p:blipFill>
        <p:spPr>
          <a:xfrm>
            <a:off x="12839040" y="7749720"/>
            <a:ext cx="1722240" cy="411120"/>
          </a:xfrm>
          <a:prstGeom prst="rect">
            <a:avLst/>
          </a:prstGeom>
          <a:ln w="0">
            <a:noFill/>
          </a:ln>
        </p:spPr>
      </p:pic>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1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Shape 0"/>
          <p:cNvSpPr/>
          <p:nvPr/>
        </p:nvSpPr>
        <p:spPr>
          <a:xfrm>
            <a:off x="0" y="0"/>
            <a:ext cx="14630040" cy="8229240"/>
          </a:xfrm>
          <a:prstGeom prst="rect">
            <a:avLst/>
          </a:prstGeom>
          <a:solidFill>
            <a:srgbClr val="5c73e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Shape 1"/>
          <p:cNvSpPr/>
          <p:nvPr/>
        </p:nvSpPr>
        <p:spPr>
          <a:xfrm>
            <a:off x="0" y="0"/>
            <a:ext cx="14630040" cy="8229240"/>
          </a:xfrm>
          <a:prstGeom prst="rect">
            <a:avLst/>
          </a:prstGeom>
          <a:solidFill>
            <a:srgbClr val="f9f9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 name="Image 0" descr="preencoded.png">
            <a:hlinkClick r:id="rId2"/>
          </p:cNvPr>
          <p:cNvPicPr/>
          <p:nvPr/>
        </p:nvPicPr>
        <p:blipFill>
          <a:blip r:embed="rId3"/>
          <a:stretch/>
        </p:blipFill>
        <p:spPr>
          <a:xfrm>
            <a:off x="12839040" y="7749720"/>
            <a:ext cx="1722240" cy="411120"/>
          </a:xfrm>
          <a:prstGeom prst="rect">
            <a:avLst/>
          </a:prstGeom>
          <a:ln w="0">
            <a:noFill/>
          </a:ln>
        </p:spPr>
      </p:pic>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slideLayout" Target="../slideLayouts/slideLayout2.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slideLayout" Target="../slideLayouts/slideLayout3.xml"/><Relationship Id="rId11"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6.png"/><Relationship Id="rId3" Type="http://schemas.openxmlformats.org/officeDocument/2006/relationships/slideLayout" Target="../slideLayouts/slideLayout5.xml"/><Relationship Id="rId4"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 name="Image 0" descr="preencoded.png"/>
          <p:cNvPicPr/>
          <p:nvPr/>
        </p:nvPicPr>
        <p:blipFill>
          <a:blip r:embed="rId1"/>
          <a:stretch/>
        </p:blipFill>
        <p:spPr>
          <a:xfrm>
            <a:off x="9144000" y="0"/>
            <a:ext cx="5486040" cy="8229240"/>
          </a:xfrm>
          <a:prstGeom prst="rect">
            <a:avLst/>
          </a:prstGeom>
          <a:ln w="0">
            <a:noFill/>
          </a:ln>
        </p:spPr>
      </p:pic>
      <p:sp>
        <p:nvSpPr>
          <p:cNvPr id="27" name="Text 0"/>
          <p:cNvSpPr/>
          <p:nvPr/>
        </p:nvSpPr>
        <p:spPr>
          <a:xfrm>
            <a:off x="635760" y="500760"/>
            <a:ext cx="7872120" cy="1135080"/>
          </a:xfrm>
          <a:prstGeom prst="rect">
            <a:avLst/>
          </a:prstGeom>
          <a:noFill/>
          <a:ln w="0">
            <a:noFill/>
          </a:ln>
        </p:spPr>
        <p:style>
          <a:lnRef idx="0"/>
          <a:fillRef idx="0"/>
          <a:effectRef idx="0"/>
          <a:fontRef idx="minor"/>
        </p:style>
        <p:txBody>
          <a:bodyPr lIns="0" rIns="0" tIns="0" bIns="0" anchor="t">
            <a:noAutofit/>
          </a:bodyPr>
          <a:p>
            <a:pPr>
              <a:lnSpc>
                <a:spcPts val="4450"/>
              </a:lnSpc>
              <a:tabLst>
                <a:tab algn="l" pos="0"/>
              </a:tabLst>
            </a:pPr>
            <a:r>
              <a:rPr b="0" lang="en-US" sz="3550" spc="-1" strike="noStrike">
                <a:solidFill>
                  <a:srgbClr val="1b1b27"/>
                </a:solidFill>
                <a:latin typeface="Alexandria"/>
                <a:ea typeface="Alexandria"/>
              </a:rPr>
              <a:t>Les outils de la politique conjoncturelle</a:t>
            </a:r>
            <a:endParaRPr b="0" lang="en-US" sz="3550" spc="-1" strike="noStrike">
              <a:solidFill>
                <a:srgbClr val="000000"/>
              </a:solidFill>
              <a:latin typeface="Arial"/>
            </a:endParaRPr>
          </a:p>
        </p:txBody>
      </p:sp>
      <p:sp>
        <p:nvSpPr>
          <p:cNvPr id="28" name="Text 1"/>
          <p:cNvSpPr/>
          <p:nvPr/>
        </p:nvSpPr>
        <p:spPr>
          <a:xfrm>
            <a:off x="635760" y="1908720"/>
            <a:ext cx="7872120" cy="58104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00" spc="-1" strike="noStrike">
                <a:solidFill>
                  <a:srgbClr val="404155"/>
                </a:solidFill>
                <a:latin typeface="Nobile"/>
                <a:ea typeface="Nobile"/>
              </a:rPr>
              <a:t>La politique conjoncturelle vise à agir sur les fluctuations économiques à court terme. Elle repose principalement sur deux leviers d'action.</a:t>
            </a:r>
            <a:endParaRPr b="0" lang="en-US" sz="1400" spc="-1" strike="noStrike">
              <a:solidFill>
                <a:srgbClr val="000000"/>
              </a:solidFill>
              <a:latin typeface="Arial"/>
            </a:endParaRPr>
          </a:p>
        </p:txBody>
      </p:sp>
      <p:sp>
        <p:nvSpPr>
          <p:cNvPr id="29" name="Shape 2"/>
          <p:cNvSpPr/>
          <p:nvPr/>
        </p:nvSpPr>
        <p:spPr>
          <a:xfrm>
            <a:off x="635760" y="2694240"/>
            <a:ext cx="7872120" cy="2426040"/>
          </a:xfrm>
          <a:prstGeom prst="roundRect">
            <a:avLst>
              <a:gd name="adj" fmla="val 3145"/>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 name="Shape 3"/>
          <p:cNvSpPr/>
          <p:nvPr/>
        </p:nvSpPr>
        <p:spPr>
          <a:xfrm>
            <a:off x="825120" y="2883600"/>
            <a:ext cx="544680" cy="544680"/>
          </a:xfrm>
          <a:prstGeom prst="roundRect">
            <a:avLst>
              <a:gd name="adj" fmla="val 16777874"/>
            </a:avLst>
          </a:prstGeom>
          <a:solidFill>
            <a:srgbClr val="1b54d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1" name="Image 1" descr="preencoded.png"/>
          <p:cNvPicPr/>
          <p:nvPr/>
        </p:nvPicPr>
        <p:blipFill>
          <a:blip r:embed="rId2">
            <a:extLst>
              <a:ext uri="{96DAC541-7B7A-43D3-8B79-37D633B846F1}">
                <asvg:svgBlip xmlns:asvg="http://schemas.microsoft.com/office/drawing/2016/SVG/main" r:embed="rId3"/>
              </a:ext>
            </a:extLst>
          </a:blip>
          <a:stretch/>
        </p:blipFill>
        <p:spPr>
          <a:xfrm>
            <a:off x="974880" y="3033360"/>
            <a:ext cx="244800" cy="244800"/>
          </a:xfrm>
          <a:prstGeom prst="rect">
            <a:avLst/>
          </a:prstGeom>
          <a:ln w="0">
            <a:noFill/>
          </a:ln>
        </p:spPr>
      </p:pic>
      <p:sp>
        <p:nvSpPr>
          <p:cNvPr id="32" name="Text 4"/>
          <p:cNvSpPr/>
          <p:nvPr/>
        </p:nvSpPr>
        <p:spPr>
          <a:xfrm>
            <a:off x="825120" y="3610080"/>
            <a:ext cx="2802600" cy="34020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0" lang="en-US" sz="2100" spc="-1" strike="noStrike">
                <a:solidFill>
                  <a:srgbClr val="404155"/>
                </a:solidFill>
                <a:latin typeface="Alexandria"/>
                <a:ea typeface="Alexandria"/>
              </a:rPr>
              <a:t>Politique Budgétaire</a:t>
            </a:r>
            <a:endParaRPr b="0" lang="en-US" sz="2100" spc="-1" strike="noStrike">
              <a:solidFill>
                <a:srgbClr val="000000"/>
              </a:solidFill>
              <a:latin typeface="Arial"/>
            </a:endParaRPr>
          </a:p>
        </p:txBody>
      </p:sp>
      <p:sp>
        <p:nvSpPr>
          <p:cNvPr id="33" name="Text 5"/>
          <p:cNvSpPr/>
          <p:nvPr/>
        </p:nvSpPr>
        <p:spPr>
          <a:xfrm>
            <a:off x="825120" y="4059720"/>
            <a:ext cx="7493760" cy="87156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00" spc="-1" strike="noStrike">
                <a:solidFill>
                  <a:srgbClr val="404155"/>
                </a:solidFill>
                <a:latin typeface="Nobile"/>
                <a:ea typeface="Nobile"/>
              </a:rPr>
              <a:t>Elle est menée par l'État via l'ajustement de son budget. Cela inclut la gestion des dépenses publiques (investissements, services publics) et des recettes (impôts, taxes) pour influencer l'activité économique.</a:t>
            </a:r>
            <a:endParaRPr b="0" lang="en-US" sz="1400" spc="-1" strike="noStrike">
              <a:solidFill>
                <a:srgbClr val="000000"/>
              </a:solidFill>
              <a:latin typeface="Arial"/>
            </a:endParaRPr>
          </a:p>
        </p:txBody>
      </p:sp>
      <p:sp>
        <p:nvSpPr>
          <p:cNvPr id="34" name="Shape 6"/>
          <p:cNvSpPr/>
          <p:nvPr/>
        </p:nvSpPr>
        <p:spPr>
          <a:xfrm>
            <a:off x="635760" y="5302080"/>
            <a:ext cx="7872120" cy="2426040"/>
          </a:xfrm>
          <a:prstGeom prst="roundRect">
            <a:avLst>
              <a:gd name="adj" fmla="val 3145"/>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 name="Shape 7"/>
          <p:cNvSpPr/>
          <p:nvPr/>
        </p:nvSpPr>
        <p:spPr>
          <a:xfrm>
            <a:off x="825120" y="5491440"/>
            <a:ext cx="544680" cy="544680"/>
          </a:xfrm>
          <a:prstGeom prst="roundRect">
            <a:avLst>
              <a:gd name="adj" fmla="val 16777874"/>
            </a:avLst>
          </a:prstGeom>
          <a:solidFill>
            <a:srgbClr val="1b54d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6" name="Image 2" descr="preencoded.png"/>
          <p:cNvPicPr/>
          <p:nvPr/>
        </p:nvPicPr>
        <p:blipFill>
          <a:blip r:embed="rId4">
            <a:extLst>
              <a:ext uri="{96DAC541-7B7A-43D3-8B79-37D633B846F1}">
                <asvg:svgBlip xmlns:asvg="http://schemas.microsoft.com/office/drawing/2016/SVG/main" r:embed="rId5"/>
              </a:ext>
            </a:extLst>
          </a:blip>
          <a:stretch/>
        </p:blipFill>
        <p:spPr>
          <a:xfrm>
            <a:off x="974880" y="5641200"/>
            <a:ext cx="244800" cy="244800"/>
          </a:xfrm>
          <a:prstGeom prst="rect">
            <a:avLst/>
          </a:prstGeom>
          <a:ln w="0">
            <a:noFill/>
          </a:ln>
        </p:spPr>
      </p:pic>
      <p:sp>
        <p:nvSpPr>
          <p:cNvPr id="37" name="Text 8"/>
          <p:cNvSpPr/>
          <p:nvPr/>
        </p:nvSpPr>
        <p:spPr>
          <a:xfrm>
            <a:off x="825120" y="6217920"/>
            <a:ext cx="2724840" cy="34020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0" lang="en-US" sz="2100" spc="-1" strike="noStrike">
                <a:solidFill>
                  <a:srgbClr val="404155"/>
                </a:solidFill>
                <a:latin typeface="Alexandria"/>
                <a:ea typeface="Alexandria"/>
              </a:rPr>
              <a:t>Politique Monétaire</a:t>
            </a:r>
            <a:endParaRPr b="0" lang="en-US" sz="2100" spc="-1" strike="noStrike">
              <a:solidFill>
                <a:srgbClr val="000000"/>
              </a:solidFill>
              <a:latin typeface="Arial"/>
            </a:endParaRPr>
          </a:p>
        </p:txBody>
      </p:sp>
      <p:sp>
        <p:nvSpPr>
          <p:cNvPr id="38" name="Text 9"/>
          <p:cNvSpPr/>
          <p:nvPr/>
        </p:nvSpPr>
        <p:spPr>
          <a:xfrm>
            <a:off x="825120" y="6667560"/>
            <a:ext cx="7493760" cy="87156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00" spc="-1" strike="noStrike">
                <a:solidFill>
                  <a:srgbClr val="404155"/>
                </a:solidFill>
                <a:latin typeface="Nobile"/>
                <a:ea typeface="Nobile"/>
              </a:rPr>
              <a:t>Mise en œuvre par la banque centrale, elle régule la masse monétaire et les taux d'intérêt. L'outil principal est le taux directeur, qui influence le coût du crédit pour les banques et, par extension, pour les entreprises et les ménages.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Image 0" descr="preencoded.png"/>
          <p:cNvPicPr/>
          <p:nvPr/>
        </p:nvPicPr>
        <p:blipFill>
          <a:blip r:embed="rId1"/>
          <a:stretch/>
        </p:blipFill>
        <p:spPr>
          <a:xfrm>
            <a:off x="9144000" y="0"/>
            <a:ext cx="5486040" cy="8229240"/>
          </a:xfrm>
          <a:prstGeom prst="rect">
            <a:avLst/>
          </a:prstGeom>
          <a:ln w="0">
            <a:noFill/>
          </a:ln>
        </p:spPr>
      </p:pic>
      <p:sp>
        <p:nvSpPr>
          <p:cNvPr id="40" name="Text 0"/>
          <p:cNvSpPr/>
          <p:nvPr/>
        </p:nvSpPr>
        <p:spPr>
          <a:xfrm>
            <a:off x="594000" y="466920"/>
            <a:ext cx="7647480" cy="529920"/>
          </a:xfrm>
          <a:prstGeom prst="rect">
            <a:avLst/>
          </a:prstGeom>
          <a:noFill/>
          <a:ln w="0">
            <a:noFill/>
          </a:ln>
        </p:spPr>
        <p:style>
          <a:lnRef idx="0"/>
          <a:fillRef idx="0"/>
          <a:effectRef idx="0"/>
          <a:fontRef idx="minor"/>
        </p:style>
        <p:txBody>
          <a:bodyPr wrap="none" lIns="0" rIns="0" tIns="0" bIns="0" anchor="t">
            <a:noAutofit/>
          </a:bodyPr>
          <a:p>
            <a:pPr>
              <a:lnSpc>
                <a:spcPts val="4150"/>
              </a:lnSpc>
              <a:tabLst>
                <a:tab algn="l" pos="0"/>
              </a:tabLst>
            </a:pPr>
            <a:r>
              <a:rPr b="0" lang="en-US" sz="3300" spc="-1" strike="noStrike">
                <a:solidFill>
                  <a:srgbClr val="1b1b27"/>
                </a:solidFill>
                <a:latin typeface="Alexandria"/>
                <a:ea typeface="Alexandria"/>
              </a:rPr>
              <a:t>Les outils de la politique structurelle</a:t>
            </a:r>
            <a:endParaRPr b="0" lang="en-US" sz="3300" spc="-1" strike="noStrike">
              <a:solidFill>
                <a:srgbClr val="000000"/>
              </a:solidFill>
              <a:latin typeface="Arial"/>
            </a:endParaRPr>
          </a:p>
        </p:txBody>
      </p:sp>
      <p:sp>
        <p:nvSpPr>
          <p:cNvPr id="41" name="Text 1"/>
          <p:cNvSpPr/>
          <p:nvPr/>
        </p:nvSpPr>
        <p:spPr>
          <a:xfrm>
            <a:off x="594000" y="1251720"/>
            <a:ext cx="7956000" cy="8139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pc="-1" strike="noStrike">
                <a:solidFill>
                  <a:srgbClr val="404155"/>
                </a:solidFill>
                <a:latin typeface="Nobile"/>
                <a:ea typeface="Nobile"/>
              </a:rPr>
              <a:t>À la différence de la politique conjoncturelle, la politique structurelle s'inscrit dans une perspective de long terme. Elle vise à transformer les structures de l'économie pour en améliorer le fonctionnement et la croissance potentielle.</a:t>
            </a:r>
            <a:endParaRPr b="0" lang="en-US" sz="1300" spc="-1" strike="noStrike">
              <a:solidFill>
                <a:srgbClr val="000000"/>
              </a:solidFill>
              <a:latin typeface="Arial"/>
            </a:endParaRPr>
          </a:p>
        </p:txBody>
      </p:sp>
      <p:sp>
        <p:nvSpPr>
          <p:cNvPr id="42" name="Shape 2"/>
          <p:cNvSpPr/>
          <p:nvPr/>
        </p:nvSpPr>
        <p:spPr>
          <a:xfrm>
            <a:off x="763560" y="2511360"/>
            <a:ext cx="169200" cy="994320"/>
          </a:xfrm>
          <a:prstGeom prst="roundRect">
            <a:avLst>
              <a:gd name="adj" fmla="val 42010"/>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Shape 3"/>
          <p:cNvSpPr/>
          <p:nvPr/>
        </p:nvSpPr>
        <p:spPr>
          <a:xfrm>
            <a:off x="594000" y="2400120"/>
            <a:ext cx="508680" cy="508680"/>
          </a:xfrm>
          <a:prstGeom prst="roundRect">
            <a:avLst>
              <a:gd name="adj" fmla="val 89804"/>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4" name="Image 1" descr="preencoded.png"/>
          <p:cNvPicPr/>
          <p:nvPr/>
        </p:nvPicPr>
        <p:blipFill>
          <a:blip r:embed="rId2">
            <a:extLst>
              <a:ext uri="{96DAC541-7B7A-43D3-8B79-37D633B846F1}">
                <asvg:svgBlip xmlns:asvg="http://schemas.microsoft.com/office/drawing/2016/SVG/main" r:embed="rId3"/>
              </a:ext>
            </a:extLst>
          </a:blip>
          <a:stretch/>
        </p:blipFill>
        <p:spPr>
          <a:xfrm>
            <a:off x="721080" y="2527200"/>
            <a:ext cx="254160" cy="254160"/>
          </a:xfrm>
          <a:prstGeom prst="rect">
            <a:avLst/>
          </a:prstGeom>
          <a:ln w="0">
            <a:noFill/>
          </a:ln>
        </p:spPr>
      </p:pic>
      <p:sp>
        <p:nvSpPr>
          <p:cNvPr id="45" name="Text 4"/>
          <p:cNvSpPr/>
          <p:nvPr/>
        </p:nvSpPr>
        <p:spPr>
          <a:xfrm>
            <a:off x="1272600" y="2426400"/>
            <a:ext cx="2538360" cy="2649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pc="-1" strike="noStrike">
                <a:solidFill>
                  <a:srgbClr val="404155"/>
                </a:solidFill>
                <a:latin typeface="Alexandria"/>
                <a:ea typeface="Alexandria"/>
              </a:rPr>
              <a:t>Politiques de Formation</a:t>
            </a:r>
            <a:endParaRPr b="0" lang="en-US" sz="1650" spc="-1" strike="noStrike">
              <a:solidFill>
                <a:srgbClr val="000000"/>
              </a:solidFill>
              <a:latin typeface="Arial"/>
            </a:endParaRPr>
          </a:p>
        </p:txBody>
      </p:sp>
      <p:sp>
        <p:nvSpPr>
          <p:cNvPr id="46" name="Text 5"/>
          <p:cNvSpPr/>
          <p:nvPr/>
        </p:nvSpPr>
        <p:spPr>
          <a:xfrm>
            <a:off x="1272600" y="2793600"/>
            <a:ext cx="7277040" cy="5425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pc="-1" strike="noStrike">
                <a:solidFill>
                  <a:srgbClr val="404155"/>
                </a:solidFill>
                <a:latin typeface="Nobile"/>
                <a:ea typeface="Nobile"/>
              </a:rPr>
              <a:t>Renforcement des compétences de la main-d'œuvre pour s'adapter aux évolutions du marché du travail et stimuler l'innovation.</a:t>
            </a:r>
            <a:endParaRPr b="0" lang="en-US" sz="1300" spc="-1" strike="noStrike">
              <a:solidFill>
                <a:srgbClr val="000000"/>
              </a:solidFill>
              <a:latin typeface="Arial"/>
            </a:endParaRPr>
          </a:p>
        </p:txBody>
      </p:sp>
      <p:sp>
        <p:nvSpPr>
          <p:cNvPr id="47" name="Shape 6"/>
          <p:cNvSpPr/>
          <p:nvPr/>
        </p:nvSpPr>
        <p:spPr>
          <a:xfrm>
            <a:off x="1018080" y="3930120"/>
            <a:ext cx="169200" cy="994320"/>
          </a:xfrm>
          <a:prstGeom prst="roundRect">
            <a:avLst>
              <a:gd name="adj" fmla="val 42010"/>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 name="Shape 7"/>
          <p:cNvSpPr/>
          <p:nvPr/>
        </p:nvSpPr>
        <p:spPr>
          <a:xfrm>
            <a:off x="848520" y="3818880"/>
            <a:ext cx="508680" cy="508680"/>
          </a:xfrm>
          <a:prstGeom prst="roundRect">
            <a:avLst>
              <a:gd name="adj" fmla="val 89804"/>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9" name="Image 2" descr="preencoded.png"/>
          <p:cNvPicPr/>
          <p:nvPr/>
        </p:nvPicPr>
        <p:blipFill>
          <a:blip r:embed="rId4">
            <a:extLst>
              <a:ext uri="{96DAC541-7B7A-43D3-8B79-37D633B846F1}">
                <asvg:svgBlip xmlns:asvg="http://schemas.microsoft.com/office/drawing/2016/SVG/main" r:embed="rId5"/>
              </a:ext>
            </a:extLst>
          </a:blip>
          <a:stretch/>
        </p:blipFill>
        <p:spPr>
          <a:xfrm>
            <a:off x="975600" y="3945960"/>
            <a:ext cx="254160" cy="254160"/>
          </a:xfrm>
          <a:prstGeom prst="rect">
            <a:avLst/>
          </a:prstGeom>
          <a:ln w="0">
            <a:noFill/>
          </a:ln>
        </p:spPr>
      </p:pic>
      <p:sp>
        <p:nvSpPr>
          <p:cNvPr id="50" name="Text 8"/>
          <p:cNvSpPr/>
          <p:nvPr/>
        </p:nvSpPr>
        <p:spPr>
          <a:xfrm>
            <a:off x="1527120" y="3845520"/>
            <a:ext cx="3162600" cy="2649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pc="-1" strike="noStrike">
                <a:solidFill>
                  <a:srgbClr val="404155"/>
                </a:solidFill>
                <a:latin typeface="Alexandria"/>
                <a:ea typeface="Alexandria"/>
              </a:rPr>
              <a:t>Politiques Environnementales</a:t>
            </a:r>
            <a:endParaRPr b="0" lang="en-US" sz="1650" spc="-1" strike="noStrike">
              <a:solidFill>
                <a:srgbClr val="000000"/>
              </a:solidFill>
              <a:latin typeface="Arial"/>
            </a:endParaRPr>
          </a:p>
        </p:txBody>
      </p:sp>
      <p:sp>
        <p:nvSpPr>
          <p:cNvPr id="51" name="Text 9"/>
          <p:cNvSpPr/>
          <p:nvPr/>
        </p:nvSpPr>
        <p:spPr>
          <a:xfrm>
            <a:off x="1527120" y="4212360"/>
            <a:ext cx="7022520" cy="5425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pc="-1" strike="noStrike">
                <a:solidFill>
                  <a:srgbClr val="404155"/>
                </a:solidFill>
                <a:latin typeface="Nobile"/>
                <a:ea typeface="Nobile"/>
              </a:rPr>
              <a:t>Intégration des enjeux écologiques dans l'économie pour favoriser une croissance durable et de nouvelles filières.</a:t>
            </a:r>
            <a:endParaRPr b="0" lang="en-US" sz="1300" spc="-1" strike="noStrike">
              <a:solidFill>
                <a:srgbClr val="000000"/>
              </a:solidFill>
              <a:latin typeface="Arial"/>
            </a:endParaRPr>
          </a:p>
        </p:txBody>
      </p:sp>
      <p:sp>
        <p:nvSpPr>
          <p:cNvPr id="52" name="Shape 10"/>
          <p:cNvSpPr/>
          <p:nvPr/>
        </p:nvSpPr>
        <p:spPr>
          <a:xfrm>
            <a:off x="1272600" y="5349240"/>
            <a:ext cx="169200" cy="994320"/>
          </a:xfrm>
          <a:prstGeom prst="roundRect">
            <a:avLst>
              <a:gd name="adj" fmla="val 42010"/>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Shape 11"/>
          <p:cNvSpPr/>
          <p:nvPr/>
        </p:nvSpPr>
        <p:spPr>
          <a:xfrm>
            <a:off x="1103040" y="5237640"/>
            <a:ext cx="508680" cy="508680"/>
          </a:xfrm>
          <a:prstGeom prst="roundRect">
            <a:avLst>
              <a:gd name="adj" fmla="val 89804"/>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4" name="Image 3" descr="preencoded.png"/>
          <p:cNvPicPr/>
          <p:nvPr/>
        </p:nvPicPr>
        <p:blipFill>
          <a:blip r:embed="rId6">
            <a:extLst>
              <a:ext uri="{96DAC541-7B7A-43D3-8B79-37D633B846F1}">
                <asvg:svgBlip xmlns:asvg="http://schemas.microsoft.com/office/drawing/2016/SVG/main" r:embed="rId7"/>
              </a:ext>
            </a:extLst>
          </a:blip>
          <a:stretch/>
        </p:blipFill>
        <p:spPr>
          <a:xfrm>
            <a:off x="1230120" y="5365080"/>
            <a:ext cx="254160" cy="254160"/>
          </a:xfrm>
          <a:prstGeom prst="rect">
            <a:avLst/>
          </a:prstGeom>
          <a:ln w="0">
            <a:noFill/>
          </a:ln>
        </p:spPr>
      </p:pic>
      <p:sp>
        <p:nvSpPr>
          <p:cNvPr id="55" name="Text 12"/>
          <p:cNvSpPr/>
          <p:nvPr/>
        </p:nvSpPr>
        <p:spPr>
          <a:xfrm>
            <a:off x="1781640" y="5264280"/>
            <a:ext cx="3269520" cy="2649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pc="-1" strike="noStrike">
                <a:solidFill>
                  <a:srgbClr val="404155"/>
                </a:solidFill>
                <a:latin typeface="Alexandria"/>
                <a:ea typeface="Alexandria"/>
              </a:rPr>
              <a:t>Réformes du Marché du Travail</a:t>
            </a:r>
            <a:endParaRPr b="0" lang="en-US" sz="1650" spc="-1" strike="noStrike">
              <a:solidFill>
                <a:srgbClr val="000000"/>
              </a:solidFill>
              <a:latin typeface="Arial"/>
            </a:endParaRPr>
          </a:p>
        </p:txBody>
      </p:sp>
      <p:sp>
        <p:nvSpPr>
          <p:cNvPr id="56" name="Text 13"/>
          <p:cNvSpPr/>
          <p:nvPr/>
        </p:nvSpPr>
        <p:spPr>
          <a:xfrm>
            <a:off x="1781640" y="5631120"/>
            <a:ext cx="6768000" cy="5425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pc="-1" strike="noStrike">
                <a:solidFill>
                  <a:srgbClr val="404155"/>
                </a:solidFill>
                <a:latin typeface="Nobile"/>
                <a:ea typeface="Nobile"/>
              </a:rPr>
              <a:t>Amélioration de la flexibilité et de la sécurité de l'emploi pour dynamiser l'activité et réduire le chômage structurel.</a:t>
            </a:r>
            <a:endParaRPr b="0" lang="en-US" sz="1300" spc="-1" strike="noStrike">
              <a:solidFill>
                <a:srgbClr val="000000"/>
              </a:solidFill>
              <a:latin typeface="Arial"/>
            </a:endParaRPr>
          </a:p>
        </p:txBody>
      </p:sp>
      <p:sp>
        <p:nvSpPr>
          <p:cNvPr id="57" name="Shape 14"/>
          <p:cNvSpPr/>
          <p:nvPr/>
        </p:nvSpPr>
        <p:spPr>
          <a:xfrm>
            <a:off x="1527120" y="6768000"/>
            <a:ext cx="169200" cy="994320"/>
          </a:xfrm>
          <a:prstGeom prst="roundRect">
            <a:avLst>
              <a:gd name="adj" fmla="val 42010"/>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 name="Shape 15"/>
          <p:cNvSpPr/>
          <p:nvPr/>
        </p:nvSpPr>
        <p:spPr>
          <a:xfrm>
            <a:off x="1357560" y="6656400"/>
            <a:ext cx="508680" cy="508680"/>
          </a:xfrm>
          <a:prstGeom prst="roundRect">
            <a:avLst>
              <a:gd name="adj" fmla="val 89804"/>
            </a:avLst>
          </a:prstGeom>
          <a:solidFill>
            <a:srgbClr val="d2ddf9"/>
          </a:solidFill>
          <a:ln w="762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9" name="Image 4" descr="preencoded.png"/>
          <p:cNvPicPr/>
          <p:nvPr/>
        </p:nvPicPr>
        <p:blipFill>
          <a:blip r:embed="rId8">
            <a:extLst>
              <a:ext uri="{96DAC541-7B7A-43D3-8B79-37D633B846F1}">
                <asvg:svgBlip xmlns:asvg="http://schemas.microsoft.com/office/drawing/2016/SVG/main" r:embed="rId9"/>
              </a:ext>
            </a:extLst>
          </a:blip>
          <a:stretch/>
        </p:blipFill>
        <p:spPr>
          <a:xfrm>
            <a:off x="1485000" y="6783840"/>
            <a:ext cx="254160" cy="254160"/>
          </a:xfrm>
          <a:prstGeom prst="rect">
            <a:avLst/>
          </a:prstGeom>
          <a:ln w="0">
            <a:noFill/>
          </a:ln>
        </p:spPr>
      </p:pic>
      <p:sp>
        <p:nvSpPr>
          <p:cNvPr id="60" name="Text 16"/>
          <p:cNvSpPr/>
          <p:nvPr/>
        </p:nvSpPr>
        <p:spPr>
          <a:xfrm>
            <a:off x="2036160" y="6683040"/>
            <a:ext cx="2564640" cy="26496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pc="-1" strike="noStrike">
                <a:solidFill>
                  <a:srgbClr val="404155"/>
                </a:solidFill>
                <a:latin typeface="Alexandria"/>
                <a:ea typeface="Alexandria"/>
              </a:rPr>
              <a:t>Régulation Économique</a:t>
            </a:r>
            <a:endParaRPr b="0" lang="en-US" sz="1650" spc="-1" strike="noStrike">
              <a:solidFill>
                <a:srgbClr val="000000"/>
              </a:solidFill>
              <a:latin typeface="Arial"/>
            </a:endParaRPr>
          </a:p>
        </p:txBody>
      </p:sp>
      <p:sp>
        <p:nvSpPr>
          <p:cNvPr id="61" name="Text 17"/>
          <p:cNvSpPr/>
          <p:nvPr/>
        </p:nvSpPr>
        <p:spPr>
          <a:xfrm>
            <a:off x="2036160" y="7049880"/>
            <a:ext cx="6513480" cy="5425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pc="-1" strike="noStrike">
                <a:solidFill>
                  <a:srgbClr val="404155"/>
                </a:solidFill>
                <a:latin typeface="Nobile"/>
                <a:ea typeface="Nobile"/>
              </a:rPr>
              <a:t>Adaptation des cadres réglementaires pour stimuler la concurrence, protéger les consommateurs et encourager l'investissement.</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 0"/>
          <p:cNvSpPr/>
          <p:nvPr/>
        </p:nvSpPr>
        <p:spPr>
          <a:xfrm>
            <a:off x="686880" y="664920"/>
            <a:ext cx="13255920" cy="122652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0" lang="en-US" sz="3850" spc="-1" strike="noStrike">
                <a:solidFill>
                  <a:srgbClr val="1b1b27"/>
                </a:solidFill>
                <a:latin typeface="Alexandria"/>
                <a:ea typeface="Alexandria"/>
              </a:rPr>
              <a:t>Impact des politiques sur l'environnement des entreprises</a:t>
            </a:r>
            <a:endParaRPr b="0" lang="en-US" sz="3850" spc="-1" strike="noStrike">
              <a:solidFill>
                <a:srgbClr val="000000"/>
              </a:solidFill>
              <a:latin typeface="Arial"/>
            </a:endParaRPr>
          </a:p>
        </p:txBody>
      </p:sp>
      <p:sp>
        <p:nvSpPr>
          <p:cNvPr id="63" name="Text 1"/>
          <p:cNvSpPr/>
          <p:nvPr/>
        </p:nvSpPr>
        <p:spPr>
          <a:xfrm>
            <a:off x="686880" y="2284560"/>
            <a:ext cx="13255920" cy="62784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0" lang="en-US" sz="1500" spc="-1" strike="noStrike">
                <a:solidFill>
                  <a:srgbClr val="404155"/>
                </a:solidFill>
                <a:latin typeface="Nobile"/>
                <a:ea typeface="Nobile"/>
              </a:rPr>
              <a:t>Les politiques économiques ciblent les ménages et les entreprises, cherchant à influencer leur comportement de consommation, d'investissement et de production.</a:t>
            </a:r>
            <a:endParaRPr b="0" lang="en-US" sz="1500" spc="-1" strike="noStrike">
              <a:solidFill>
                <a:srgbClr val="000000"/>
              </a:solidFill>
              <a:latin typeface="Arial"/>
            </a:endParaRPr>
          </a:p>
        </p:txBody>
      </p:sp>
      <p:sp>
        <p:nvSpPr>
          <p:cNvPr id="64" name="Text 2"/>
          <p:cNvSpPr/>
          <p:nvPr/>
        </p:nvSpPr>
        <p:spPr>
          <a:xfrm>
            <a:off x="686880" y="3329640"/>
            <a:ext cx="24534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00" spc="-1" strike="noStrike">
                <a:solidFill>
                  <a:srgbClr val="1b1b27"/>
                </a:solidFill>
                <a:latin typeface="Alexandria"/>
                <a:ea typeface="Alexandria"/>
              </a:rPr>
              <a:t>Politiques de l'Offre</a:t>
            </a:r>
            <a:endParaRPr b="0" lang="en-US" sz="1900" spc="-1" strike="noStrike">
              <a:solidFill>
                <a:srgbClr val="000000"/>
              </a:solidFill>
              <a:latin typeface="Arial"/>
            </a:endParaRPr>
          </a:p>
        </p:txBody>
      </p:sp>
      <p:sp>
        <p:nvSpPr>
          <p:cNvPr id="65" name="Text 3"/>
          <p:cNvSpPr/>
          <p:nvPr/>
        </p:nvSpPr>
        <p:spPr>
          <a:xfrm>
            <a:off x="686880" y="3832560"/>
            <a:ext cx="6388560" cy="31356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1" lang="en-US" sz="1500" spc="-1" strike="noStrike">
                <a:solidFill>
                  <a:srgbClr val="404155"/>
                </a:solidFill>
                <a:latin typeface="Nobile"/>
                <a:ea typeface="Nobile"/>
              </a:rPr>
              <a:t>Outil :</a:t>
            </a:r>
            <a:r>
              <a:rPr b="0" lang="en-US" sz="1500" spc="-1" strike="noStrike">
                <a:solidFill>
                  <a:srgbClr val="404155"/>
                </a:solidFill>
                <a:latin typeface="Nobile"/>
                <a:ea typeface="Nobile"/>
              </a:rPr>
              <a:t> Baisse des impôts sur les sociétés ou charges sociales.</a:t>
            </a:r>
            <a:endParaRPr b="0" lang="en-US" sz="1500" spc="-1" strike="noStrike">
              <a:solidFill>
                <a:srgbClr val="000000"/>
              </a:solidFill>
              <a:latin typeface="Arial"/>
            </a:endParaRPr>
          </a:p>
        </p:txBody>
      </p:sp>
      <p:sp>
        <p:nvSpPr>
          <p:cNvPr id="66" name="Text 4"/>
          <p:cNvSpPr/>
          <p:nvPr/>
        </p:nvSpPr>
        <p:spPr>
          <a:xfrm>
            <a:off x="686880" y="4215240"/>
            <a:ext cx="6388560" cy="94176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1" lang="en-US" sz="1500" spc="-1" strike="noStrike">
                <a:solidFill>
                  <a:srgbClr val="404155"/>
                </a:solidFill>
                <a:latin typeface="Nobile"/>
                <a:ea typeface="Nobile"/>
              </a:rPr>
              <a:t>Objectif :</a:t>
            </a:r>
            <a:r>
              <a:rPr b="0" lang="en-US" sz="1500" spc="-1" strike="noStrike">
                <a:solidFill>
                  <a:srgbClr val="404155"/>
                </a:solidFill>
                <a:latin typeface="Nobile"/>
                <a:ea typeface="Nobile"/>
              </a:rPr>
              <a:t> Augmenter les marges des entreprises, favorisant ainsi l'investissement, l'innovation et la production. Cela rend les entreprises plus compétitives.</a:t>
            </a:r>
            <a:endParaRPr b="0" lang="en-US" sz="1500" spc="-1" strike="noStrike">
              <a:solidFill>
                <a:srgbClr val="000000"/>
              </a:solidFill>
              <a:latin typeface="Arial"/>
            </a:endParaRPr>
          </a:p>
        </p:txBody>
      </p:sp>
      <p:sp>
        <p:nvSpPr>
          <p:cNvPr id="67" name="Text 5"/>
          <p:cNvSpPr/>
          <p:nvPr/>
        </p:nvSpPr>
        <p:spPr>
          <a:xfrm>
            <a:off x="686880" y="5353920"/>
            <a:ext cx="315072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00" spc="-1" strike="noStrike">
                <a:solidFill>
                  <a:srgbClr val="1b1b27"/>
                </a:solidFill>
                <a:latin typeface="Alexandria"/>
                <a:ea typeface="Alexandria"/>
              </a:rPr>
              <a:t>Politiques de la Demande</a:t>
            </a:r>
            <a:endParaRPr b="0" lang="en-US" sz="1900" spc="-1" strike="noStrike">
              <a:solidFill>
                <a:srgbClr val="000000"/>
              </a:solidFill>
              <a:latin typeface="Arial"/>
            </a:endParaRPr>
          </a:p>
        </p:txBody>
      </p:sp>
      <p:sp>
        <p:nvSpPr>
          <p:cNvPr id="68" name="Text 6"/>
          <p:cNvSpPr/>
          <p:nvPr/>
        </p:nvSpPr>
        <p:spPr>
          <a:xfrm>
            <a:off x="686880" y="5856840"/>
            <a:ext cx="6388560" cy="62784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1" lang="en-US" sz="1500" spc="-1" strike="noStrike">
                <a:solidFill>
                  <a:srgbClr val="404155"/>
                </a:solidFill>
                <a:latin typeface="Nobile"/>
                <a:ea typeface="Nobile"/>
              </a:rPr>
              <a:t>Outil :</a:t>
            </a:r>
            <a:r>
              <a:rPr b="0" lang="en-US" sz="1500" spc="-1" strike="noStrike">
                <a:solidFill>
                  <a:srgbClr val="404155"/>
                </a:solidFill>
                <a:latin typeface="Nobile"/>
                <a:ea typeface="Nobile"/>
              </a:rPr>
              <a:t> Baisse des impôts des ménages, augmentation des prestations sociales ou des dépenses publiques.</a:t>
            </a:r>
            <a:endParaRPr b="0" lang="en-US" sz="1500" spc="-1" strike="noStrike">
              <a:solidFill>
                <a:srgbClr val="000000"/>
              </a:solidFill>
              <a:latin typeface="Arial"/>
            </a:endParaRPr>
          </a:p>
        </p:txBody>
      </p:sp>
      <p:sp>
        <p:nvSpPr>
          <p:cNvPr id="69" name="Text 7"/>
          <p:cNvSpPr/>
          <p:nvPr/>
        </p:nvSpPr>
        <p:spPr>
          <a:xfrm>
            <a:off x="686880" y="6553440"/>
            <a:ext cx="6388560" cy="94176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1" lang="en-US" sz="1500" spc="-1" strike="noStrike">
                <a:solidFill>
                  <a:srgbClr val="404155"/>
                </a:solidFill>
                <a:latin typeface="Nobile"/>
                <a:ea typeface="Nobile"/>
              </a:rPr>
              <a:t>Objectif :</a:t>
            </a:r>
            <a:r>
              <a:rPr b="0" lang="en-US" sz="1500" spc="-1" strike="noStrike">
                <a:solidFill>
                  <a:srgbClr val="404155"/>
                </a:solidFill>
                <a:latin typeface="Nobile"/>
                <a:ea typeface="Nobile"/>
              </a:rPr>
              <a:t> Stimuler la consommation et la demande adressée aux entreprises, ce qui entraîne une augmentation de la production et de l'emploi.</a:t>
            </a:r>
            <a:endParaRPr b="0" lang="en-US" sz="1500" spc="-1" strike="noStrike">
              <a:solidFill>
                <a:srgbClr val="000000"/>
              </a:solidFill>
              <a:latin typeface="Arial"/>
            </a:endParaRPr>
          </a:p>
        </p:txBody>
      </p:sp>
      <p:sp>
        <p:nvSpPr>
          <p:cNvPr id="70" name="Text 8"/>
          <p:cNvSpPr/>
          <p:nvPr/>
        </p:nvSpPr>
        <p:spPr>
          <a:xfrm>
            <a:off x="7562160" y="3329640"/>
            <a:ext cx="269784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900" spc="-1" strike="noStrike">
                <a:solidFill>
                  <a:srgbClr val="1b1b27"/>
                </a:solidFill>
                <a:latin typeface="Alexandria"/>
                <a:ea typeface="Alexandria"/>
              </a:rPr>
              <a:t>Politiques Spécifiques</a:t>
            </a:r>
            <a:endParaRPr b="0" lang="en-US" sz="1900" spc="-1" strike="noStrike">
              <a:solidFill>
                <a:srgbClr val="000000"/>
              </a:solidFill>
              <a:latin typeface="Arial"/>
            </a:endParaRPr>
          </a:p>
        </p:txBody>
      </p:sp>
      <p:sp>
        <p:nvSpPr>
          <p:cNvPr id="71" name="Text 9"/>
          <p:cNvSpPr/>
          <p:nvPr/>
        </p:nvSpPr>
        <p:spPr>
          <a:xfrm>
            <a:off x="7562160" y="3832560"/>
            <a:ext cx="6388560" cy="125604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1" lang="en-US" sz="1500" spc="-1" strike="noStrike">
                <a:solidFill>
                  <a:srgbClr val="404155"/>
                </a:solidFill>
                <a:latin typeface="Nobile"/>
                <a:ea typeface="Nobile"/>
              </a:rPr>
              <a:t>Environnementales et Formation :</a:t>
            </a:r>
            <a:r>
              <a:rPr b="0" lang="en-US" sz="1500" spc="-1" strike="noStrike">
                <a:solidFill>
                  <a:srgbClr val="404155"/>
                </a:solidFill>
                <a:latin typeface="Nobile"/>
                <a:ea typeface="Nobile"/>
              </a:rPr>
              <a:t> Peuvent imposer des coûts à court terme (normes, investissements verts) mais préparent l'économie à long terme par l'innovation et l'adaptation des compétences.</a:t>
            </a:r>
            <a:endParaRPr b="0" lang="en-US" sz="1500" spc="-1" strike="noStrike">
              <a:solidFill>
                <a:srgbClr val="000000"/>
              </a:solidFill>
              <a:latin typeface="Arial"/>
            </a:endParaRPr>
          </a:p>
        </p:txBody>
      </p:sp>
      <p:sp>
        <p:nvSpPr>
          <p:cNvPr id="72" name="Text 10"/>
          <p:cNvSpPr/>
          <p:nvPr/>
        </p:nvSpPr>
        <p:spPr>
          <a:xfrm>
            <a:off x="7562160" y="5157720"/>
            <a:ext cx="6388560" cy="941760"/>
          </a:xfrm>
          <a:prstGeom prst="rect">
            <a:avLst/>
          </a:prstGeom>
          <a:noFill/>
          <a:ln w="0">
            <a:noFill/>
          </a:ln>
        </p:spPr>
        <p:style>
          <a:lnRef idx="0"/>
          <a:fillRef idx="0"/>
          <a:effectRef idx="0"/>
          <a:fontRef idx="minor"/>
        </p:style>
        <p:txBody>
          <a:bodyPr lIns="0" rIns="0" tIns="0" bIns="0" anchor="t">
            <a:noAutofit/>
          </a:bodyPr>
          <a:p>
            <a:pPr>
              <a:lnSpc>
                <a:spcPts val="2449"/>
              </a:lnSpc>
              <a:tabLst>
                <a:tab algn="l" pos="0"/>
              </a:tabLst>
            </a:pPr>
            <a:r>
              <a:rPr b="1" lang="en-US" sz="1500" spc="-1" strike="noStrike">
                <a:solidFill>
                  <a:srgbClr val="404155"/>
                </a:solidFill>
                <a:latin typeface="Nobile"/>
                <a:ea typeface="Nobile"/>
              </a:rPr>
              <a:t>Relance :</a:t>
            </a:r>
            <a:r>
              <a:rPr b="0" lang="en-US" sz="1500" spc="-1" strike="noStrike">
                <a:solidFill>
                  <a:srgbClr val="404155"/>
                </a:solidFill>
                <a:latin typeface="Nobile"/>
                <a:ea typeface="Nobile"/>
              </a:rPr>
              <a:t> Intervention de l'État (budgétaire ou monétaire) pour stimuler l'activité en période de ralentissement, via une augmentation de la demande ou de l'offre.</a:t>
            </a:r>
            <a:endParaRPr b="0" lang="en-US" sz="1500" spc="-1" strike="noStrike">
              <a:solidFill>
                <a:srgbClr val="000000"/>
              </a:solidFill>
              <a:latin typeface="Arial"/>
            </a:endParaRPr>
          </a:p>
        </p:txBody>
      </p:sp>
      <p:pic>
        <p:nvPicPr>
          <p:cNvPr id="73" name="" descr=""/>
          <p:cNvPicPr/>
          <p:nvPr/>
        </p:nvPicPr>
        <p:blipFill>
          <a:blip r:embed="rId1"/>
          <a:stretch/>
        </p:blipFill>
        <p:spPr>
          <a:xfrm>
            <a:off x="12592440" y="7543800"/>
            <a:ext cx="2037960" cy="6188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Image 0" descr="preencoded.png"/>
          <p:cNvPicPr/>
          <p:nvPr/>
        </p:nvPicPr>
        <p:blipFill>
          <a:blip r:embed="rId1"/>
          <a:stretch/>
        </p:blipFill>
        <p:spPr>
          <a:xfrm>
            <a:off x="0" y="0"/>
            <a:ext cx="14630040" cy="2615400"/>
          </a:xfrm>
          <a:prstGeom prst="rect">
            <a:avLst/>
          </a:prstGeom>
          <a:ln w="0">
            <a:noFill/>
          </a:ln>
        </p:spPr>
      </p:pic>
      <p:sp>
        <p:nvSpPr>
          <p:cNvPr id="75" name="Text 0"/>
          <p:cNvSpPr/>
          <p:nvPr/>
        </p:nvSpPr>
        <p:spPr>
          <a:xfrm>
            <a:off x="732600" y="3191400"/>
            <a:ext cx="8567640" cy="653400"/>
          </a:xfrm>
          <a:prstGeom prst="rect">
            <a:avLst/>
          </a:prstGeom>
          <a:noFill/>
          <a:ln w="0">
            <a:noFill/>
          </a:ln>
        </p:spPr>
        <p:style>
          <a:lnRef idx="0"/>
          <a:fillRef idx="0"/>
          <a:effectRef idx="0"/>
          <a:fontRef idx="minor"/>
        </p:style>
        <p:txBody>
          <a:bodyPr wrap="none" lIns="0" rIns="0" tIns="0" bIns="0" anchor="t">
            <a:noAutofit/>
          </a:bodyPr>
          <a:p>
            <a:pPr>
              <a:lnSpc>
                <a:spcPts val="5100"/>
              </a:lnSpc>
              <a:tabLst>
                <a:tab algn="l" pos="0"/>
              </a:tabLst>
            </a:pPr>
            <a:r>
              <a:rPr b="0" lang="en-US" sz="4100" spc="-1" strike="noStrike">
                <a:solidFill>
                  <a:srgbClr val="1b1b27"/>
                </a:solidFill>
                <a:latin typeface="Alexandria"/>
                <a:ea typeface="Alexandria"/>
              </a:rPr>
              <a:t>Limites de l'intervention de l'État</a:t>
            </a:r>
            <a:endParaRPr b="0" lang="en-US" sz="4100" spc="-1" strike="noStrike">
              <a:solidFill>
                <a:srgbClr val="000000"/>
              </a:solidFill>
              <a:latin typeface="Arial"/>
            </a:endParaRPr>
          </a:p>
        </p:txBody>
      </p:sp>
      <p:sp>
        <p:nvSpPr>
          <p:cNvPr id="76" name="Text 1"/>
          <p:cNvSpPr/>
          <p:nvPr/>
        </p:nvSpPr>
        <p:spPr>
          <a:xfrm>
            <a:off x="732600" y="4159080"/>
            <a:ext cx="13165200" cy="33444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1600" spc="-1" strike="noStrike">
                <a:solidFill>
                  <a:srgbClr val="404155"/>
                </a:solidFill>
                <a:latin typeface="Nobile"/>
                <a:ea typeface="Nobile"/>
              </a:rPr>
              <a:t>Malgré son rôle crucial, l'action de l'État se heurte à des contraintes significatives qui peuvent limiter son efficacité.</a:t>
            </a:r>
            <a:endParaRPr b="0" lang="en-US" sz="1600" spc="-1" strike="noStrike">
              <a:solidFill>
                <a:srgbClr val="000000"/>
              </a:solidFill>
              <a:latin typeface="Arial"/>
            </a:endParaRPr>
          </a:p>
        </p:txBody>
      </p:sp>
      <p:sp>
        <p:nvSpPr>
          <p:cNvPr id="77" name="Shape 2"/>
          <p:cNvSpPr/>
          <p:nvPr/>
        </p:nvSpPr>
        <p:spPr>
          <a:xfrm>
            <a:off x="732600" y="4729320"/>
            <a:ext cx="6477840" cy="2925000"/>
          </a:xfrm>
          <a:prstGeom prst="roundRect">
            <a:avLst>
              <a:gd name="adj" fmla="val 3751"/>
            </a:avLst>
          </a:prstGeom>
          <a:solidFill>
            <a:srgbClr val="f9f9ff"/>
          </a:solidFill>
          <a:ln w="2286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Shape 3"/>
          <p:cNvSpPr/>
          <p:nvPr/>
        </p:nvSpPr>
        <p:spPr>
          <a:xfrm>
            <a:off x="709560" y="4729320"/>
            <a:ext cx="91080" cy="2925000"/>
          </a:xfrm>
          <a:prstGeom prst="roundRect">
            <a:avLst>
              <a:gd name="adj" fmla="val 96127"/>
            </a:avLst>
          </a:prstGeom>
          <a:solidFill>
            <a:srgbClr val="1b54d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4"/>
          <p:cNvSpPr/>
          <p:nvPr/>
        </p:nvSpPr>
        <p:spPr>
          <a:xfrm>
            <a:off x="1033200" y="4961160"/>
            <a:ext cx="3141360" cy="3265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404155"/>
                </a:solidFill>
                <a:latin typeface="Alexandria"/>
                <a:ea typeface="Alexandria"/>
              </a:rPr>
              <a:t>Contraintes Budgétaires</a:t>
            </a:r>
            <a:endParaRPr b="0" lang="en-US" sz="2050" spc="-1" strike="noStrike">
              <a:solidFill>
                <a:srgbClr val="000000"/>
              </a:solidFill>
              <a:latin typeface="Arial"/>
            </a:endParaRPr>
          </a:p>
        </p:txBody>
      </p:sp>
      <p:sp>
        <p:nvSpPr>
          <p:cNvPr id="80" name="Text 5"/>
          <p:cNvSpPr/>
          <p:nvPr/>
        </p:nvSpPr>
        <p:spPr>
          <a:xfrm>
            <a:off x="1033200" y="5413680"/>
            <a:ext cx="5945040" cy="167364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pc="-1" strike="noStrike">
                <a:solidFill>
                  <a:srgbClr val="404155"/>
                </a:solidFill>
                <a:latin typeface="Nobile"/>
                <a:ea typeface="Nobile"/>
              </a:rPr>
              <a:t>L'accumulation du déficit public et de la dette limite la capacité de l'État à mener des politiques expansives. Les objectifs de réduction du déficit (ex: ramener le déficit à 5% du PIB en 2025) restreignent les marges de manœuvre budgétaires.</a:t>
            </a:r>
            <a:endParaRPr b="0" lang="en-US" sz="1600" spc="-1" strike="noStrike">
              <a:solidFill>
                <a:srgbClr val="000000"/>
              </a:solidFill>
              <a:latin typeface="Arial"/>
            </a:endParaRPr>
          </a:p>
        </p:txBody>
      </p:sp>
      <p:sp>
        <p:nvSpPr>
          <p:cNvPr id="81" name="Shape 6"/>
          <p:cNvSpPr/>
          <p:nvPr/>
        </p:nvSpPr>
        <p:spPr>
          <a:xfrm>
            <a:off x="7419600" y="4729320"/>
            <a:ext cx="6477840" cy="2925000"/>
          </a:xfrm>
          <a:prstGeom prst="roundRect">
            <a:avLst>
              <a:gd name="adj" fmla="val 3751"/>
            </a:avLst>
          </a:prstGeom>
          <a:solidFill>
            <a:srgbClr val="f9f9ff"/>
          </a:solidFill>
          <a:ln w="22860">
            <a:solidFill>
              <a:srgbClr val="b8c3d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Shape 7"/>
          <p:cNvSpPr/>
          <p:nvPr/>
        </p:nvSpPr>
        <p:spPr>
          <a:xfrm>
            <a:off x="7396920" y="4729320"/>
            <a:ext cx="91080" cy="2925000"/>
          </a:xfrm>
          <a:prstGeom prst="roundRect">
            <a:avLst>
              <a:gd name="adj" fmla="val 96127"/>
            </a:avLst>
          </a:prstGeom>
          <a:solidFill>
            <a:srgbClr val="1b54d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8"/>
          <p:cNvSpPr/>
          <p:nvPr/>
        </p:nvSpPr>
        <p:spPr>
          <a:xfrm>
            <a:off x="7720200" y="4961160"/>
            <a:ext cx="4210560" cy="3265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404155"/>
                </a:solidFill>
                <a:latin typeface="Alexandria"/>
                <a:ea typeface="Alexandria"/>
              </a:rPr>
              <a:t>Contraintes de la Mondialisation</a:t>
            </a:r>
            <a:endParaRPr b="0" lang="en-US" sz="2050" spc="-1" strike="noStrike">
              <a:solidFill>
                <a:srgbClr val="000000"/>
              </a:solidFill>
              <a:latin typeface="Arial"/>
            </a:endParaRPr>
          </a:p>
        </p:txBody>
      </p:sp>
      <p:sp>
        <p:nvSpPr>
          <p:cNvPr id="84" name="Text 9"/>
          <p:cNvSpPr/>
          <p:nvPr/>
        </p:nvSpPr>
        <p:spPr>
          <a:xfrm>
            <a:off x="7720200" y="5413680"/>
            <a:ext cx="5945040" cy="200844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pc="-1" strike="noStrike">
                <a:solidFill>
                  <a:srgbClr val="404155"/>
                </a:solidFill>
                <a:latin typeface="Nobile"/>
                <a:ea typeface="Nobile"/>
              </a:rPr>
              <a:t>Dans une économie globalisée, les politiques nationales sont souvent contraintes par les interdépendances économiques et les décisions d'instances supranationales (comme la Banque Centrale Européenne pour la politique monétaire dans la zone euro). Les flux de capitaux et de biens limitent l'autonomie des États.</a:t>
            </a:r>
            <a:endParaRPr b="0" lang="en-US" sz="1600" spc="-1" strike="noStrike">
              <a:solidFill>
                <a:srgbClr val="000000"/>
              </a:solidFill>
              <a:latin typeface="Arial"/>
            </a:endParaRPr>
          </a:p>
        </p:txBody>
      </p:sp>
      <p:pic>
        <p:nvPicPr>
          <p:cNvPr id="85" name="" descr=""/>
          <p:cNvPicPr/>
          <p:nvPr/>
        </p:nvPicPr>
        <p:blipFill>
          <a:blip r:embed="rId2"/>
          <a:stretch/>
        </p:blipFill>
        <p:spPr>
          <a:xfrm>
            <a:off x="12592800" y="7772400"/>
            <a:ext cx="2037960" cy="390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2025-11-28T09:27:29Z</dcterms:created>
  <dc:creator/>
  <dc:description/>
  <dc:language>en-US</dc:language>
  <cp:lastModifiedBy/>
  <dcterms:modified xsi:type="dcterms:W3CDTF">2025-11-28T10:33:13Z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On-screen Show (16:9)</vt:lpwstr>
  </property>
  <property fmtid="{D5CDD505-2E9C-101B-9397-08002B2CF9AE}" pid="4" name="Slides">
    <vt:i4>4</vt:i4>
  </property>
</Properties>
</file>