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DB4C3A2-2B6C-4D99-AB92-1CFE2E4BA95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2A1502-1262-4D62-BBA4-50ED2F0BFE0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F5C945-8F9F-4381-B10B-544CB6F67E1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3ADCB0-D2AF-4E7A-BB12-11A9D39279D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F45FBF-73AE-4BAE-B2F7-2744162B664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458170-17E4-448E-B534-DDF272BDEA4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0FE386-5CB6-457C-842F-6002FDD11BE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preencoded.png"/>
          <p:cNvPicPr/>
          <p:nvPr/>
        </p:nvPicPr>
        <p:blipFill>
          <a:blip r:embed="rId1"/>
          <a:stretch/>
        </p:blipFill>
        <p:spPr>
          <a:xfrm>
            <a:off x="8869680" y="0"/>
            <a:ext cx="5760360" cy="8229240"/>
          </a:xfrm>
          <a:prstGeom prst="rect">
            <a:avLst/>
          </a:prstGeom>
          <a:ln w="0">
            <a:noFill/>
          </a:ln>
        </p:spPr>
      </p:pic>
      <p:sp>
        <p:nvSpPr>
          <p:cNvPr id="37" name="Text 0"/>
          <p:cNvSpPr/>
          <p:nvPr/>
        </p:nvSpPr>
        <p:spPr>
          <a:xfrm>
            <a:off x="793800" y="270000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S'entendre comme chien et chat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793800" y="4457880"/>
            <a:ext cx="755604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549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793800" y="5166360"/>
            <a:ext cx="75560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Adam Planque – BTS SIO SLAM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760360" cy="8229240"/>
          </a:xfrm>
          <a:prstGeom prst="rect">
            <a:avLst/>
          </a:prstGeom>
          <a:ln w="0">
            <a:noFill/>
          </a:ln>
        </p:spPr>
      </p:pic>
      <p:sp>
        <p:nvSpPr>
          <p:cNvPr id="41" name="Text 0"/>
          <p:cNvSpPr/>
          <p:nvPr/>
        </p:nvSpPr>
        <p:spPr>
          <a:xfrm>
            <a:off x="6280200" y="1625400"/>
            <a:ext cx="7434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Signification de l'expression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6280200" y="2674440"/>
            <a:ext cx="3664440" cy="2032560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6507000" y="29012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Ne pas s'entendre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6507000" y="3391560"/>
            <a:ext cx="32108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Vivre dans une mésentente constante, se disputer sans arrêt.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10171800" y="2674440"/>
            <a:ext cx="3664440" cy="2032560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0398600" y="29012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Caractères opposés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10398600" y="3391560"/>
            <a:ext cx="32108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S'applique à deux personnes dont les différences provoquent des tensions.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6280200" y="4934160"/>
            <a:ext cx="7556040" cy="1669320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6507000" y="5160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Contextes variés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6507000" y="5651280"/>
            <a:ext cx="710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Couple, amitié, environnement professionnel – partout où règne le conflit.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2"/>
          <a:stretch/>
        </p:blipFill>
        <p:spPr>
          <a:xfrm>
            <a:off x="12868560" y="7543800"/>
            <a:ext cx="1761840" cy="68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673200" y="528840"/>
            <a:ext cx="850284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00"/>
              </a:lnSpc>
              <a:tabLst>
                <a:tab algn="l" pos="0"/>
              </a:tabLst>
            </a:pPr>
            <a:r>
              <a:rPr b="0" lang="en-US" sz="37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L'animalité : une métaphore puissante</a:t>
            </a:r>
            <a:endParaRPr b="0" lang="en-US" sz="3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673200" y="1611000"/>
            <a:ext cx="24044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Le chien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673200" y="2103840"/>
            <a:ext cx="6406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01"/>
              </a:lnSpc>
              <a:buClr>
                <a:srgbClr val="1e306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Folie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673200" y="2478960"/>
            <a:ext cx="6406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01"/>
              </a:lnSpc>
              <a:buClr>
                <a:srgbClr val="1e306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Plutôt dépendant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673200" y="2854080"/>
            <a:ext cx="6406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01"/>
              </a:lnSpc>
              <a:buClr>
                <a:srgbClr val="1e306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Soumis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673200" y="3378240"/>
            <a:ext cx="6406920" cy="3844080"/>
          </a:xfrm>
          <a:prstGeom prst="rect">
            <a:avLst/>
          </a:prstGeom>
          <a:ln w="0">
            <a:noFill/>
          </a:ln>
        </p:spPr>
      </p:pic>
      <p:sp>
        <p:nvSpPr>
          <p:cNvPr id="58" name="Text 5"/>
          <p:cNvSpPr/>
          <p:nvPr/>
        </p:nvSpPr>
        <p:spPr>
          <a:xfrm>
            <a:off x="7557480" y="1611000"/>
            <a:ext cx="24044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Le chat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7557480" y="2103840"/>
            <a:ext cx="6406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01"/>
              </a:lnSpc>
              <a:buClr>
                <a:srgbClr val="1e306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Calme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7557480" y="2478960"/>
            <a:ext cx="6406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01"/>
              </a:lnSpc>
              <a:buClr>
                <a:srgbClr val="1e306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Quasiment autonome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7557480" y="2854080"/>
            <a:ext cx="6406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01"/>
              </a:lnSpc>
              <a:buClr>
                <a:srgbClr val="1e306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Libre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Image 1" descr="preencoded.png"/>
          <p:cNvPicPr/>
          <p:nvPr/>
        </p:nvPicPr>
        <p:blipFill>
          <a:blip r:embed="rId2"/>
          <a:stretch/>
        </p:blipFill>
        <p:spPr>
          <a:xfrm>
            <a:off x="8992080" y="3378240"/>
            <a:ext cx="3537360" cy="3537360"/>
          </a:xfrm>
          <a:prstGeom prst="rect">
            <a:avLst/>
          </a:prstGeom>
          <a:ln w="0">
            <a:noFill/>
          </a:ln>
        </p:spPr>
      </p:pic>
      <p:sp>
        <p:nvSpPr>
          <p:cNvPr id="63" name="Text 9"/>
          <p:cNvSpPr/>
          <p:nvPr/>
        </p:nvSpPr>
        <p:spPr>
          <a:xfrm>
            <a:off x="673200" y="7655040"/>
            <a:ext cx="132832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Leur opposition devient miroir des rivalités humaines.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12868560" y="7544160"/>
            <a:ext cx="1761840" cy="68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8869680" y="0"/>
            <a:ext cx="5760360" cy="8229240"/>
          </a:xfrm>
          <a:prstGeom prst="rect">
            <a:avLst/>
          </a:prstGeom>
          <a:ln w="0">
            <a:noFill/>
          </a:ln>
        </p:spPr>
      </p:pic>
      <p:sp>
        <p:nvSpPr>
          <p:cNvPr id="66" name="Text 0"/>
          <p:cNvSpPr/>
          <p:nvPr/>
        </p:nvSpPr>
        <p:spPr>
          <a:xfrm>
            <a:off x="793800" y="13770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Origines historiques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1049040" y="2426040"/>
            <a:ext cx="30240" cy="442620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1273680" y="2665800"/>
            <a:ext cx="680040" cy="3024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793800" y="2426040"/>
            <a:ext cx="510120" cy="510120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878760" y="24685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0" lang="en-US" sz="265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1</a:t>
            </a:r>
            <a:endParaRPr b="0" lang="en-U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2183040" y="25038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Moyen Âge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2183040" y="2994120"/>
            <a:ext cx="61668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Chat perçu comme diabolique, compagnon des sorcières.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1273680" y="4050720"/>
            <a:ext cx="680040" cy="3024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793800" y="3810600"/>
            <a:ext cx="510120" cy="510120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878760" y="385308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0" lang="en-US" sz="265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2</a:t>
            </a:r>
            <a:endParaRPr b="0" lang="en-U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2183040" y="38887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XVIIe siècle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2183040" y="4379040"/>
            <a:ext cx="61668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Expression attestée dans les textes et croyances populaires.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1273680" y="5798520"/>
            <a:ext cx="680040" cy="3024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793800" y="5558400"/>
            <a:ext cx="510120" cy="510120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878760" y="560088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0" lang="en-US" sz="265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3</a:t>
            </a:r>
            <a:endParaRPr b="0" lang="en-U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2183040" y="56361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XVIIe-XVIIIe siècles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2183040" y="6126840"/>
            <a:ext cx="61668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Opposition culturelle se fixe dans le sens actuel de l'expression.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793800" y="840600"/>
            <a:ext cx="87487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Références culturelles modernes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793800" y="2003040"/>
            <a:ext cx="6379200" cy="3942360"/>
          </a:xfrm>
          <a:prstGeom prst="rect">
            <a:avLst/>
          </a:prstGeom>
          <a:ln w="0">
            <a:noFill/>
          </a:ln>
        </p:spPr>
      </p:pic>
      <p:sp>
        <p:nvSpPr>
          <p:cNvPr id="85" name="Text 1"/>
          <p:cNvSpPr/>
          <p:nvPr/>
        </p:nvSpPr>
        <p:spPr>
          <a:xfrm>
            <a:off x="793800" y="61725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Cats &amp; Dogs (2001)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793800" y="6663240"/>
            <a:ext cx="6379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Guerre secrète entre chiens et chats pour le contrôle du monde. L'expression incarnée avec humour.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7457040" y="2003040"/>
            <a:ext cx="6379200" cy="3942360"/>
          </a:xfrm>
          <a:prstGeom prst="rect">
            <a:avLst/>
          </a:prstGeom>
          <a:ln w="0">
            <a:noFill/>
          </a:ln>
        </p:spPr>
      </p:pic>
      <p:sp>
        <p:nvSpPr>
          <p:cNvPr id="88" name="Text 3"/>
          <p:cNvSpPr/>
          <p:nvPr/>
        </p:nvSpPr>
        <p:spPr>
          <a:xfrm>
            <a:off x="7457040" y="61725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Tom et Jerry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7457040" y="6663240"/>
            <a:ext cx="6379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Chat et souris en conflit permanent, proche de la dynamique chien-chat.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3"/>
          <a:stretch/>
        </p:blipFill>
        <p:spPr>
          <a:xfrm>
            <a:off x="12868560" y="7544160"/>
            <a:ext cx="1761840" cy="68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760360" cy="8229240"/>
          </a:xfrm>
          <a:prstGeom prst="rect">
            <a:avLst/>
          </a:prstGeom>
          <a:ln w="0">
            <a:noFill/>
          </a:ln>
        </p:spPr>
      </p:pic>
      <p:sp>
        <p:nvSpPr>
          <p:cNvPr id="92" name="Text 0"/>
          <p:cNvSpPr/>
          <p:nvPr/>
        </p:nvSpPr>
        <p:spPr>
          <a:xfrm>
            <a:off x="6280200" y="106128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91c53"/>
                </a:solidFill>
                <a:latin typeface="Instrument Sans Semi Bold"/>
                <a:ea typeface="Instrument Sans Semi Bold"/>
              </a:rPr>
              <a:t>Conclusion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620400" y="2365560"/>
            <a:ext cx="72158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« S'entendre comme chien et chat »</a:t>
            </a: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 – une expression qui traverse les siècles, révélant comment les animaux reflètent nos propres conflits et incompatibilités.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6280200" y="2110320"/>
            <a:ext cx="30240" cy="1598760"/>
          </a:xfrm>
          <a:prstGeom prst="rect">
            <a:avLst/>
          </a:prstGeom>
          <a:solidFill>
            <a:srgbClr val="84c1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6280200" y="3964680"/>
            <a:ext cx="3664440" cy="1669320"/>
          </a:xfrm>
          <a:prstGeom prst="roundRect">
            <a:avLst>
              <a:gd name="adj" fmla="val 32601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6507000" y="41914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Universelle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6507000" y="4681800"/>
            <a:ext cx="32108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Utilisée dans tous les contextes de mésentente.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10171800" y="3964680"/>
            <a:ext cx="3664440" cy="1669320"/>
          </a:xfrm>
          <a:prstGeom prst="roundRect">
            <a:avLst>
              <a:gd name="adj" fmla="val 32601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10398600" y="41914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Intemporelle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10398600" y="4681800"/>
            <a:ext cx="32108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Du Moyen Âge à nos jours, toujours pertinente.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6280200" y="5861160"/>
            <a:ext cx="7556040" cy="1306440"/>
          </a:xfrm>
          <a:prstGeom prst="roundRect">
            <a:avLst>
              <a:gd name="adj" fmla="val 41653"/>
            </a:avLst>
          </a:prstGeom>
          <a:solidFill>
            <a:srgbClr val="cee6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507000" y="6087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1e3063"/>
                </a:solidFill>
                <a:latin typeface="Instrument Sans Semi Bold"/>
                <a:ea typeface="Instrument Sans Semi Bold"/>
              </a:rPr>
              <a:t>Symbolique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6507000" y="657828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1e3063"/>
                </a:solidFill>
                <a:latin typeface="Instrument Sans Medium"/>
                <a:ea typeface="Instrument Sans Medium"/>
              </a:rPr>
              <a:t>Miroir de l'humanité et de ses rivalités.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12868560" y="7544160"/>
            <a:ext cx="1761840" cy="68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2025-11-28T15:12:06Z</dcterms:created>
  <dc:creator/>
  <dc:description/>
  <dc:language>en-US</dc:language>
  <cp:lastModifiedBy/>
  <dcterms:modified xsi:type="dcterms:W3CDTF">2025-11-28T16:12:58Z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